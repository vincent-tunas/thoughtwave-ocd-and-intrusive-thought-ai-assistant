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77" r:id="rId5"/>
    <p:sldId id="263" r:id="rId6"/>
    <p:sldId id="260" r:id="rId7"/>
    <p:sldId id="259" r:id="rId8"/>
    <p:sldId id="264" r:id="rId9"/>
    <p:sldId id="278" r:id="rId10"/>
    <p:sldId id="279" r:id="rId11"/>
    <p:sldId id="269" r:id="rId12"/>
    <p:sldId id="265" r:id="rId13"/>
    <p:sldId id="273" r:id="rId14"/>
    <p:sldId id="272" r:id="rId15"/>
    <p:sldId id="266" r:id="rId16"/>
    <p:sldId id="271" r:id="rId17"/>
    <p:sldId id="268" r:id="rId18"/>
    <p:sldId id="274" r:id="rId19"/>
    <p:sldId id="275" r:id="rId20"/>
    <p:sldId id="26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7617" autoAdjust="0"/>
  </p:normalViewPr>
  <p:slideViewPr>
    <p:cSldViewPr snapToGrid="0">
      <p:cViewPr varScale="1">
        <p:scale>
          <a:sx n="85" d="100"/>
          <a:sy n="85" d="100"/>
        </p:scale>
        <p:origin x="78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AB904-B4AD-41BF-A6F2-88624D874883}"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653A46-EE99-4FA7-B4D3-4655CF619130}" type="slidenum">
              <a:rPr lang="en-US" smtClean="0"/>
              <a:t>‹#›</a:t>
            </a:fld>
            <a:endParaRPr lang="en-US"/>
          </a:p>
        </p:txBody>
      </p:sp>
    </p:spTree>
    <p:extLst>
      <p:ext uri="{BB962C8B-B14F-4D97-AF65-F5344CB8AC3E}">
        <p14:creationId xmlns:p14="http://schemas.microsoft.com/office/powerpoint/2010/main" val="1374592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OCD estimate: Australian Bureau of Statistics, National Study of Mental Health and Wellbeing, 2020–2022, 12-month OCD prevalence among people aged 16–85: 3.6%. https://www.abs.gov.au/statistics/health/mental-health/national-study-mental-health-and-wellbeing/2020-2022</a:t>
            </a:r>
          </a:p>
          <a:p>
            <a:r>
              <a:t>Intrusive thoughts: Radomsky et al. (2014), Part 1—You can run but you can’t hide: Intrusive thoughts on six continents. 777 university students in 13 countries; about 94% reported at least one unwanted intrusive thought, image, or impulse in the prior three months. University author summary: https://www.concordia.ca/cunews/main/releases/2014/04/08/obsessive-compulsive-thinking.html</a:t>
            </a:r>
          </a:p>
          <a:p>
            <a:r>
              <a:t>The two estimates use different populations, periods, and definitions, so they should not be compared as rates for Australia.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Show how AI accelerated you, where your judgement mattered and anything important you changed.</a:t>
            </a:r>
          </a:p>
          <a:p>
            <a:endParaRPr lang="en-US" dirty="0"/>
          </a:p>
        </p:txBody>
      </p:sp>
      <p:sp>
        <p:nvSpPr>
          <p:cNvPr id="4" name="Slide Number Placeholder 3"/>
          <p:cNvSpPr>
            <a:spLocks noGrp="1"/>
          </p:cNvSpPr>
          <p:nvPr>
            <p:ph type="sldNum" sz="quarter" idx="5"/>
          </p:nvPr>
        </p:nvSpPr>
        <p:spPr/>
        <p:txBody>
          <a:bodyPr/>
          <a:lstStyle/>
          <a:p>
            <a:fld id="{A8653A46-EE99-4FA7-B4D3-4655CF619130}" type="slidenum">
              <a:rPr lang="en-US" smtClean="0"/>
              <a:t>16</a:t>
            </a:fld>
            <a:endParaRPr lang="en-US"/>
          </a:p>
        </p:txBody>
      </p:sp>
    </p:spTree>
    <p:extLst>
      <p:ext uri="{BB962C8B-B14F-4D97-AF65-F5344CB8AC3E}">
        <p14:creationId xmlns:p14="http://schemas.microsoft.com/office/powerpoint/2010/main" val="933812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653A46-EE99-4FA7-B4D3-4655CF619130}" type="slidenum">
              <a:rPr lang="en-US" smtClean="0"/>
              <a:t>18</a:t>
            </a:fld>
            <a:endParaRPr lang="en-US"/>
          </a:p>
        </p:txBody>
      </p:sp>
    </p:spTree>
    <p:extLst>
      <p:ext uri="{BB962C8B-B14F-4D97-AF65-F5344CB8AC3E}">
        <p14:creationId xmlns:p14="http://schemas.microsoft.com/office/powerpoint/2010/main" val="1279529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6532D-7E68-2893-4931-DF0077564A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142B3C-90B0-D087-16C9-C9D570E577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3E4704-8088-5332-4FDF-0F694B4CE062}"/>
              </a:ext>
            </a:extLst>
          </p:cNvPr>
          <p:cNvSpPr>
            <a:spLocks noGrp="1"/>
          </p:cNvSpPr>
          <p:nvPr>
            <p:ph type="dt" sz="half" idx="10"/>
          </p:nvPr>
        </p:nvSpPr>
        <p:spPr/>
        <p:txBody>
          <a:bodyPr/>
          <a:lstStyle/>
          <a:p>
            <a:fld id="{6E6105DC-0E80-48EA-80A7-3F4F47C09EAA}" type="datetimeFigureOut">
              <a:rPr lang="en-US" smtClean="0"/>
              <a:t>9/23/2026</a:t>
            </a:fld>
            <a:endParaRPr lang="en-US"/>
          </a:p>
        </p:txBody>
      </p:sp>
      <p:sp>
        <p:nvSpPr>
          <p:cNvPr id="5" name="Footer Placeholder 4">
            <a:extLst>
              <a:ext uri="{FF2B5EF4-FFF2-40B4-BE49-F238E27FC236}">
                <a16:creationId xmlns:a16="http://schemas.microsoft.com/office/drawing/2014/main" id="{2E719E08-9B0B-EB95-1A6C-4CE78F34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9AA065-EF90-C495-D0E4-D25307BA1494}"/>
              </a:ext>
            </a:extLst>
          </p:cNvPr>
          <p:cNvSpPr>
            <a:spLocks noGrp="1"/>
          </p:cNvSpPr>
          <p:nvPr>
            <p:ph type="sldNum" sz="quarter" idx="12"/>
          </p:nvPr>
        </p:nvSpPr>
        <p:spPr/>
        <p:txBody>
          <a:bodyPr/>
          <a:lstStyle/>
          <a:p>
            <a:fld id="{05C72F07-42AC-4826-AE21-6B9E95FDC50B}" type="slidenum">
              <a:rPr lang="en-US" smtClean="0"/>
              <a:t>‹#›</a:t>
            </a:fld>
            <a:endParaRPr lang="en-US"/>
          </a:p>
        </p:txBody>
      </p:sp>
    </p:spTree>
    <p:extLst>
      <p:ext uri="{BB962C8B-B14F-4D97-AF65-F5344CB8AC3E}">
        <p14:creationId xmlns:p14="http://schemas.microsoft.com/office/powerpoint/2010/main" val="795419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14819-BE54-3415-6334-B948D1081A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B56552-8ACE-1D4A-4508-DEDED5B631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FC3DF-AC72-7D26-B222-A54E8D3DBC36}"/>
              </a:ext>
            </a:extLst>
          </p:cNvPr>
          <p:cNvSpPr>
            <a:spLocks noGrp="1"/>
          </p:cNvSpPr>
          <p:nvPr>
            <p:ph type="dt" sz="half" idx="10"/>
          </p:nvPr>
        </p:nvSpPr>
        <p:spPr/>
        <p:txBody>
          <a:bodyPr/>
          <a:lstStyle/>
          <a:p>
            <a:fld id="{6E6105DC-0E80-48EA-80A7-3F4F47C09EAA}" type="datetimeFigureOut">
              <a:rPr lang="en-US" smtClean="0"/>
              <a:t>9/23/2026</a:t>
            </a:fld>
            <a:endParaRPr lang="en-US"/>
          </a:p>
        </p:txBody>
      </p:sp>
      <p:sp>
        <p:nvSpPr>
          <p:cNvPr id="5" name="Footer Placeholder 4">
            <a:extLst>
              <a:ext uri="{FF2B5EF4-FFF2-40B4-BE49-F238E27FC236}">
                <a16:creationId xmlns:a16="http://schemas.microsoft.com/office/drawing/2014/main" id="{7145DF8A-729F-8D7D-DA96-9C85370D94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F0851A-5074-1F4B-9D86-D97736B99C1E}"/>
              </a:ext>
            </a:extLst>
          </p:cNvPr>
          <p:cNvSpPr>
            <a:spLocks noGrp="1"/>
          </p:cNvSpPr>
          <p:nvPr>
            <p:ph type="sldNum" sz="quarter" idx="12"/>
          </p:nvPr>
        </p:nvSpPr>
        <p:spPr/>
        <p:txBody>
          <a:bodyPr/>
          <a:lstStyle/>
          <a:p>
            <a:fld id="{05C72F07-42AC-4826-AE21-6B9E95FDC50B}" type="slidenum">
              <a:rPr lang="en-US" smtClean="0"/>
              <a:t>‹#›</a:t>
            </a:fld>
            <a:endParaRPr lang="en-US"/>
          </a:p>
        </p:txBody>
      </p:sp>
    </p:spTree>
    <p:extLst>
      <p:ext uri="{BB962C8B-B14F-4D97-AF65-F5344CB8AC3E}">
        <p14:creationId xmlns:p14="http://schemas.microsoft.com/office/powerpoint/2010/main" val="3926843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6A426-16E1-9C7D-F1B4-72E43692ED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736719-8C71-6428-02CF-7E94149293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FE68F7-6742-8BFD-A832-AA80D108DB0C}"/>
              </a:ext>
            </a:extLst>
          </p:cNvPr>
          <p:cNvSpPr>
            <a:spLocks noGrp="1"/>
          </p:cNvSpPr>
          <p:nvPr>
            <p:ph type="dt" sz="half" idx="10"/>
          </p:nvPr>
        </p:nvSpPr>
        <p:spPr/>
        <p:txBody>
          <a:bodyPr/>
          <a:lstStyle/>
          <a:p>
            <a:fld id="{6E6105DC-0E80-48EA-80A7-3F4F47C09EAA}" type="datetimeFigureOut">
              <a:rPr lang="en-US" smtClean="0"/>
              <a:t>9/23/2026</a:t>
            </a:fld>
            <a:endParaRPr lang="en-US"/>
          </a:p>
        </p:txBody>
      </p:sp>
      <p:sp>
        <p:nvSpPr>
          <p:cNvPr id="5" name="Footer Placeholder 4">
            <a:extLst>
              <a:ext uri="{FF2B5EF4-FFF2-40B4-BE49-F238E27FC236}">
                <a16:creationId xmlns:a16="http://schemas.microsoft.com/office/drawing/2014/main" id="{6F2A5060-3C01-3729-CE33-A1507F31F5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DD10D1-5FFF-3BED-5C3B-BA0192976C84}"/>
              </a:ext>
            </a:extLst>
          </p:cNvPr>
          <p:cNvSpPr>
            <a:spLocks noGrp="1"/>
          </p:cNvSpPr>
          <p:nvPr>
            <p:ph type="sldNum" sz="quarter" idx="12"/>
          </p:nvPr>
        </p:nvSpPr>
        <p:spPr/>
        <p:txBody>
          <a:bodyPr/>
          <a:lstStyle/>
          <a:p>
            <a:fld id="{05C72F07-42AC-4826-AE21-6B9E95FDC50B}" type="slidenum">
              <a:rPr lang="en-US" smtClean="0"/>
              <a:t>‹#›</a:t>
            </a:fld>
            <a:endParaRPr lang="en-US"/>
          </a:p>
        </p:txBody>
      </p:sp>
    </p:spTree>
    <p:extLst>
      <p:ext uri="{BB962C8B-B14F-4D97-AF65-F5344CB8AC3E}">
        <p14:creationId xmlns:p14="http://schemas.microsoft.com/office/powerpoint/2010/main" val="2932063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03689-D1FE-4369-DADF-B3FF4141CB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47C221-92E9-64AB-68F8-CCF462908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C41DB2-93C0-FC9B-B2F6-BC6091A2C4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A6A19E-82B6-B540-84F3-89458190B0C8}"/>
              </a:ext>
            </a:extLst>
          </p:cNvPr>
          <p:cNvSpPr>
            <a:spLocks noGrp="1"/>
          </p:cNvSpPr>
          <p:nvPr>
            <p:ph type="dt" sz="half" idx="10"/>
          </p:nvPr>
        </p:nvSpPr>
        <p:spPr/>
        <p:txBody>
          <a:bodyPr/>
          <a:lstStyle/>
          <a:p>
            <a:fld id="{6E6105DC-0E80-48EA-80A7-3F4F47C09EAA}" type="datetimeFigureOut">
              <a:rPr lang="en-US" smtClean="0"/>
              <a:t>9/23/2026</a:t>
            </a:fld>
            <a:endParaRPr lang="en-US"/>
          </a:p>
        </p:txBody>
      </p:sp>
      <p:sp>
        <p:nvSpPr>
          <p:cNvPr id="6" name="Footer Placeholder 5">
            <a:extLst>
              <a:ext uri="{FF2B5EF4-FFF2-40B4-BE49-F238E27FC236}">
                <a16:creationId xmlns:a16="http://schemas.microsoft.com/office/drawing/2014/main" id="{3EC647EE-3329-A263-F298-DB8C0079F0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D4F99E-8700-87DD-F2C6-89C310046C2B}"/>
              </a:ext>
            </a:extLst>
          </p:cNvPr>
          <p:cNvSpPr>
            <a:spLocks noGrp="1"/>
          </p:cNvSpPr>
          <p:nvPr>
            <p:ph type="sldNum" sz="quarter" idx="12"/>
          </p:nvPr>
        </p:nvSpPr>
        <p:spPr/>
        <p:txBody>
          <a:bodyPr/>
          <a:lstStyle/>
          <a:p>
            <a:fld id="{05C72F07-42AC-4826-AE21-6B9E95FDC50B}" type="slidenum">
              <a:rPr lang="en-US" smtClean="0"/>
              <a:t>‹#›</a:t>
            </a:fld>
            <a:endParaRPr lang="en-US"/>
          </a:p>
        </p:txBody>
      </p:sp>
    </p:spTree>
    <p:extLst>
      <p:ext uri="{BB962C8B-B14F-4D97-AF65-F5344CB8AC3E}">
        <p14:creationId xmlns:p14="http://schemas.microsoft.com/office/powerpoint/2010/main" val="1613551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DCA81-47FF-B1B3-4E88-85DADB098F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0BAB94-E29E-417D-9E93-34A97E5BDA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8BB644-345E-E50A-C1C2-401E785AEA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C8F1B3-9E21-2554-435D-EAF157FB0B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C58E6A-6FED-9DBE-77FD-C46F78A82F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8F47D4B-1EAD-723F-1226-4D12CA65B0BC}"/>
              </a:ext>
            </a:extLst>
          </p:cNvPr>
          <p:cNvSpPr>
            <a:spLocks noGrp="1"/>
          </p:cNvSpPr>
          <p:nvPr>
            <p:ph type="dt" sz="half" idx="10"/>
          </p:nvPr>
        </p:nvSpPr>
        <p:spPr/>
        <p:txBody>
          <a:bodyPr/>
          <a:lstStyle/>
          <a:p>
            <a:fld id="{6E6105DC-0E80-48EA-80A7-3F4F47C09EAA}" type="datetimeFigureOut">
              <a:rPr lang="en-US" smtClean="0"/>
              <a:t>9/23/2026</a:t>
            </a:fld>
            <a:endParaRPr lang="en-US"/>
          </a:p>
        </p:txBody>
      </p:sp>
      <p:sp>
        <p:nvSpPr>
          <p:cNvPr id="8" name="Footer Placeholder 7">
            <a:extLst>
              <a:ext uri="{FF2B5EF4-FFF2-40B4-BE49-F238E27FC236}">
                <a16:creationId xmlns:a16="http://schemas.microsoft.com/office/drawing/2014/main" id="{02E8D907-D67E-67B8-10CF-6A4E947B11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AE73DC-578B-8359-09C9-71574CF83879}"/>
              </a:ext>
            </a:extLst>
          </p:cNvPr>
          <p:cNvSpPr>
            <a:spLocks noGrp="1"/>
          </p:cNvSpPr>
          <p:nvPr>
            <p:ph type="sldNum" sz="quarter" idx="12"/>
          </p:nvPr>
        </p:nvSpPr>
        <p:spPr/>
        <p:txBody>
          <a:bodyPr/>
          <a:lstStyle/>
          <a:p>
            <a:fld id="{05C72F07-42AC-4826-AE21-6B9E95FDC50B}" type="slidenum">
              <a:rPr lang="en-US" smtClean="0"/>
              <a:t>‹#›</a:t>
            </a:fld>
            <a:endParaRPr lang="en-US"/>
          </a:p>
        </p:txBody>
      </p:sp>
    </p:spTree>
    <p:extLst>
      <p:ext uri="{BB962C8B-B14F-4D97-AF65-F5344CB8AC3E}">
        <p14:creationId xmlns:p14="http://schemas.microsoft.com/office/powerpoint/2010/main" val="3153133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A9E1D-3959-B165-811A-EAFBD0A272D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ABA3452-D5F8-0F43-F0CE-DA2EDF56647F}"/>
              </a:ext>
            </a:extLst>
          </p:cNvPr>
          <p:cNvSpPr>
            <a:spLocks noGrp="1"/>
          </p:cNvSpPr>
          <p:nvPr>
            <p:ph type="dt" sz="half" idx="10"/>
          </p:nvPr>
        </p:nvSpPr>
        <p:spPr/>
        <p:txBody>
          <a:bodyPr/>
          <a:lstStyle/>
          <a:p>
            <a:fld id="{6E6105DC-0E80-48EA-80A7-3F4F47C09EAA}" type="datetimeFigureOut">
              <a:rPr lang="en-US" smtClean="0"/>
              <a:t>9/23/2026</a:t>
            </a:fld>
            <a:endParaRPr lang="en-US"/>
          </a:p>
        </p:txBody>
      </p:sp>
      <p:sp>
        <p:nvSpPr>
          <p:cNvPr id="4" name="Footer Placeholder 3">
            <a:extLst>
              <a:ext uri="{FF2B5EF4-FFF2-40B4-BE49-F238E27FC236}">
                <a16:creationId xmlns:a16="http://schemas.microsoft.com/office/drawing/2014/main" id="{CD4D0743-9E70-8FBD-1723-086BD92F64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106F57-9E7D-A040-4C4E-652117E2E5BB}"/>
              </a:ext>
            </a:extLst>
          </p:cNvPr>
          <p:cNvSpPr>
            <a:spLocks noGrp="1"/>
          </p:cNvSpPr>
          <p:nvPr>
            <p:ph type="sldNum" sz="quarter" idx="12"/>
          </p:nvPr>
        </p:nvSpPr>
        <p:spPr/>
        <p:txBody>
          <a:bodyPr/>
          <a:lstStyle/>
          <a:p>
            <a:fld id="{05C72F07-42AC-4826-AE21-6B9E95FDC50B}" type="slidenum">
              <a:rPr lang="en-US" smtClean="0"/>
              <a:t>‹#›</a:t>
            </a:fld>
            <a:endParaRPr lang="en-US"/>
          </a:p>
        </p:txBody>
      </p:sp>
    </p:spTree>
    <p:extLst>
      <p:ext uri="{BB962C8B-B14F-4D97-AF65-F5344CB8AC3E}">
        <p14:creationId xmlns:p14="http://schemas.microsoft.com/office/powerpoint/2010/main" val="3379295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A09E6E-A139-CBD3-B013-E29B00909CA1}"/>
              </a:ext>
            </a:extLst>
          </p:cNvPr>
          <p:cNvSpPr>
            <a:spLocks noGrp="1"/>
          </p:cNvSpPr>
          <p:nvPr>
            <p:ph type="dt" sz="half" idx="10"/>
          </p:nvPr>
        </p:nvSpPr>
        <p:spPr/>
        <p:txBody>
          <a:bodyPr/>
          <a:lstStyle/>
          <a:p>
            <a:fld id="{6E6105DC-0E80-48EA-80A7-3F4F47C09EAA}" type="datetimeFigureOut">
              <a:rPr lang="en-US" smtClean="0"/>
              <a:t>9/23/2026</a:t>
            </a:fld>
            <a:endParaRPr lang="en-US"/>
          </a:p>
        </p:txBody>
      </p:sp>
      <p:sp>
        <p:nvSpPr>
          <p:cNvPr id="3" name="Footer Placeholder 2">
            <a:extLst>
              <a:ext uri="{FF2B5EF4-FFF2-40B4-BE49-F238E27FC236}">
                <a16:creationId xmlns:a16="http://schemas.microsoft.com/office/drawing/2014/main" id="{FDF5444E-C900-849D-32C3-CD5F55DD5E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6E69AB-9557-78EA-B7B9-8C922F284F24}"/>
              </a:ext>
            </a:extLst>
          </p:cNvPr>
          <p:cNvSpPr>
            <a:spLocks noGrp="1"/>
          </p:cNvSpPr>
          <p:nvPr>
            <p:ph type="sldNum" sz="quarter" idx="12"/>
          </p:nvPr>
        </p:nvSpPr>
        <p:spPr/>
        <p:txBody>
          <a:bodyPr/>
          <a:lstStyle/>
          <a:p>
            <a:fld id="{05C72F07-42AC-4826-AE21-6B9E95FDC50B}" type="slidenum">
              <a:rPr lang="en-US" smtClean="0"/>
              <a:t>‹#›</a:t>
            </a:fld>
            <a:endParaRPr lang="en-US"/>
          </a:p>
        </p:txBody>
      </p:sp>
    </p:spTree>
    <p:extLst>
      <p:ext uri="{BB962C8B-B14F-4D97-AF65-F5344CB8AC3E}">
        <p14:creationId xmlns:p14="http://schemas.microsoft.com/office/powerpoint/2010/main" val="3454752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F06C4-93F2-4770-8E62-C4E2935D03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8927D8-7188-5483-453F-F237849D11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545C9E-64E5-062A-4C6E-9B074C4FCB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16F550-A88F-2ED9-4DBA-5C7CF54B8170}"/>
              </a:ext>
            </a:extLst>
          </p:cNvPr>
          <p:cNvSpPr>
            <a:spLocks noGrp="1"/>
          </p:cNvSpPr>
          <p:nvPr>
            <p:ph type="dt" sz="half" idx="10"/>
          </p:nvPr>
        </p:nvSpPr>
        <p:spPr/>
        <p:txBody>
          <a:bodyPr/>
          <a:lstStyle/>
          <a:p>
            <a:fld id="{6E6105DC-0E80-48EA-80A7-3F4F47C09EAA}" type="datetimeFigureOut">
              <a:rPr lang="en-US" smtClean="0"/>
              <a:t>9/23/2026</a:t>
            </a:fld>
            <a:endParaRPr lang="en-US"/>
          </a:p>
        </p:txBody>
      </p:sp>
      <p:sp>
        <p:nvSpPr>
          <p:cNvPr id="6" name="Footer Placeholder 5">
            <a:extLst>
              <a:ext uri="{FF2B5EF4-FFF2-40B4-BE49-F238E27FC236}">
                <a16:creationId xmlns:a16="http://schemas.microsoft.com/office/drawing/2014/main" id="{65D1EE27-EB4D-4026-5454-12BB4DC25B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8E07CD-416C-FC45-E86F-2DD52B2BA7D6}"/>
              </a:ext>
            </a:extLst>
          </p:cNvPr>
          <p:cNvSpPr>
            <a:spLocks noGrp="1"/>
          </p:cNvSpPr>
          <p:nvPr>
            <p:ph type="sldNum" sz="quarter" idx="12"/>
          </p:nvPr>
        </p:nvSpPr>
        <p:spPr/>
        <p:txBody>
          <a:bodyPr/>
          <a:lstStyle/>
          <a:p>
            <a:fld id="{05C72F07-42AC-4826-AE21-6B9E95FDC50B}" type="slidenum">
              <a:rPr lang="en-US" smtClean="0"/>
              <a:t>‹#›</a:t>
            </a:fld>
            <a:endParaRPr lang="en-US"/>
          </a:p>
        </p:txBody>
      </p:sp>
    </p:spTree>
    <p:extLst>
      <p:ext uri="{BB962C8B-B14F-4D97-AF65-F5344CB8AC3E}">
        <p14:creationId xmlns:p14="http://schemas.microsoft.com/office/powerpoint/2010/main" val="2879447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56607-EDA6-B575-189A-CA6B49C686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630159-C60D-6A73-7459-9D2CAD1D56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BE5956-918D-0819-370F-1FE891064A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AB4568-A2C3-9DEF-F6CB-F6E2DE78E4CF}"/>
              </a:ext>
            </a:extLst>
          </p:cNvPr>
          <p:cNvSpPr>
            <a:spLocks noGrp="1"/>
          </p:cNvSpPr>
          <p:nvPr>
            <p:ph type="dt" sz="half" idx="10"/>
          </p:nvPr>
        </p:nvSpPr>
        <p:spPr/>
        <p:txBody>
          <a:bodyPr/>
          <a:lstStyle/>
          <a:p>
            <a:fld id="{6E6105DC-0E80-48EA-80A7-3F4F47C09EAA}" type="datetimeFigureOut">
              <a:rPr lang="en-US" smtClean="0"/>
              <a:t>9/23/2026</a:t>
            </a:fld>
            <a:endParaRPr lang="en-US"/>
          </a:p>
        </p:txBody>
      </p:sp>
      <p:sp>
        <p:nvSpPr>
          <p:cNvPr id="6" name="Footer Placeholder 5">
            <a:extLst>
              <a:ext uri="{FF2B5EF4-FFF2-40B4-BE49-F238E27FC236}">
                <a16:creationId xmlns:a16="http://schemas.microsoft.com/office/drawing/2014/main" id="{E7CEDEA1-C7F5-CDB6-1BA8-BC2A41769E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737FF9-8FC7-F7B4-901C-7DA62E4B0AD2}"/>
              </a:ext>
            </a:extLst>
          </p:cNvPr>
          <p:cNvSpPr>
            <a:spLocks noGrp="1"/>
          </p:cNvSpPr>
          <p:nvPr>
            <p:ph type="sldNum" sz="quarter" idx="12"/>
          </p:nvPr>
        </p:nvSpPr>
        <p:spPr/>
        <p:txBody>
          <a:bodyPr/>
          <a:lstStyle/>
          <a:p>
            <a:fld id="{05C72F07-42AC-4826-AE21-6B9E95FDC50B}" type="slidenum">
              <a:rPr lang="en-US" smtClean="0"/>
              <a:t>‹#›</a:t>
            </a:fld>
            <a:endParaRPr lang="en-US"/>
          </a:p>
        </p:txBody>
      </p:sp>
    </p:spTree>
    <p:extLst>
      <p:ext uri="{BB962C8B-B14F-4D97-AF65-F5344CB8AC3E}">
        <p14:creationId xmlns:p14="http://schemas.microsoft.com/office/powerpoint/2010/main" val="1623066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8436B-C65A-089D-D6E9-DDC063B0AF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F0C57D-B149-7FEB-50F3-2050C9E7FA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90BD04-5615-C956-9AED-D205BE82D455}"/>
              </a:ext>
            </a:extLst>
          </p:cNvPr>
          <p:cNvSpPr>
            <a:spLocks noGrp="1"/>
          </p:cNvSpPr>
          <p:nvPr>
            <p:ph type="dt" sz="half" idx="10"/>
          </p:nvPr>
        </p:nvSpPr>
        <p:spPr/>
        <p:txBody>
          <a:bodyPr/>
          <a:lstStyle/>
          <a:p>
            <a:fld id="{6E6105DC-0E80-48EA-80A7-3F4F47C09EAA}" type="datetimeFigureOut">
              <a:rPr lang="en-US" smtClean="0"/>
              <a:t>9/23/2026</a:t>
            </a:fld>
            <a:endParaRPr lang="en-US"/>
          </a:p>
        </p:txBody>
      </p:sp>
      <p:sp>
        <p:nvSpPr>
          <p:cNvPr id="5" name="Footer Placeholder 4">
            <a:extLst>
              <a:ext uri="{FF2B5EF4-FFF2-40B4-BE49-F238E27FC236}">
                <a16:creationId xmlns:a16="http://schemas.microsoft.com/office/drawing/2014/main" id="{2542419C-2B14-B5BE-2919-34BE1C368E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3B7D9D-5B7A-FC0B-9D4E-8F9118EFE7C6}"/>
              </a:ext>
            </a:extLst>
          </p:cNvPr>
          <p:cNvSpPr>
            <a:spLocks noGrp="1"/>
          </p:cNvSpPr>
          <p:nvPr>
            <p:ph type="sldNum" sz="quarter" idx="12"/>
          </p:nvPr>
        </p:nvSpPr>
        <p:spPr/>
        <p:txBody>
          <a:bodyPr/>
          <a:lstStyle/>
          <a:p>
            <a:fld id="{05C72F07-42AC-4826-AE21-6B9E95FDC50B}" type="slidenum">
              <a:rPr lang="en-US" smtClean="0"/>
              <a:t>‹#›</a:t>
            </a:fld>
            <a:endParaRPr lang="en-US"/>
          </a:p>
        </p:txBody>
      </p:sp>
    </p:spTree>
    <p:extLst>
      <p:ext uri="{BB962C8B-B14F-4D97-AF65-F5344CB8AC3E}">
        <p14:creationId xmlns:p14="http://schemas.microsoft.com/office/powerpoint/2010/main" val="3448421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5929A9-FE99-CBBE-32F3-3AD264D2B7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F83E68-2F54-BC61-5073-D954DC3FCC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19B97A-98BC-1081-3D41-B00E6526D28C}"/>
              </a:ext>
            </a:extLst>
          </p:cNvPr>
          <p:cNvSpPr>
            <a:spLocks noGrp="1"/>
          </p:cNvSpPr>
          <p:nvPr>
            <p:ph type="dt" sz="half" idx="10"/>
          </p:nvPr>
        </p:nvSpPr>
        <p:spPr/>
        <p:txBody>
          <a:bodyPr/>
          <a:lstStyle/>
          <a:p>
            <a:fld id="{6E6105DC-0E80-48EA-80A7-3F4F47C09EAA}" type="datetimeFigureOut">
              <a:rPr lang="en-US" smtClean="0"/>
              <a:t>9/23/2026</a:t>
            </a:fld>
            <a:endParaRPr lang="en-US"/>
          </a:p>
        </p:txBody>
      </p:sp>
      <p:sp>
        <p:nvSpPr>
          <p:cNvPr id="5" name="Footer Placeholder 4">
            <a:extLst>
              <a:ext uri="{FF2B5EF4-FFF2-40B4-BE49-F238E27FC236}">
                <a16:creationId xmlns:a16="http://schemas.microsoft.com/office/drawing/2014/main" id="{5EB76EAA-9856-947C-2FBF-08CC69CEC1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E47845-E828-8C11-A6FF-51ECAA010EC8}"/>
              </a:ext>
            </a:extLst>
          </p:cNvPr>
          <p:cNvSpPr>
            <a:spLocks noGrp="1"/>
          </p:cNvSpPr>
          <p:nvPr>
            <p:ph type="sldNum" sz="quarter" idx="12"/>
          </p:nvPr>
        </p:nvSpPr>
        <p:spPr/>
        <p:txBody>
          <a:bodyPr/>
          <a:lstStyle/>
          <a:p>
            <a:fld id="{05C72F07-42AC-4826-AE21-6B9E95FDC50B}" type="slidenum">
              <a:rPr lang="en-US" smtClean="0"/>
              <a:t>‹#›</a:t>
            </a:fld>
            <a:endParaRPr lang="en-US"/>
          </a:p>
        </p:txBody>
      </p:sp>
    </p:spTree>
    <p:extLst>
      <p:ext uri="{BB962C8B-B14F-4D97-AF65-F5344CB8AC3E}">
        <p14:creationId xmlns:p14="http://schemas.microsoft.com/office/powerpoint/2010/main" val="3663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0219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72463C-41BE-6E2D-68CE-A31526E487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69DBEC-A53D-ADE9-6A95-AB1A3AD75A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7A8E68-9F3E-1221-EB81-3C26905F5E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6105DC-0E80-48EA-80A7-3F4F47C09EAA}" type="datetimeFigureOut">
              <a:rPr lang="en-US" smtClean="0"/>
              <a:t>9/23/2026</a:t>
            </a:fld>
            <a:endParaRPr lang="en-US"/>
          </a:p>
        </p:txBody>
      </p:sp>
      <p:sp>
        <p:nvSpPr>
          <p:cNvPr id="5" name="Footer Placeholder 4">
            <a:extLst>
              <a:ext uri="{FF2B5EF4-FFF2-40B4-BE49-F238E27FC236}">
                <a16:creationId xmlns:a16="http://schemas.microsoft.com/office/drawing/2014/main" id="{A30D17FC-557F-2E0C-1347-A7422A2A0A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3BF612D-0B16-EF54-F258-8EAC2D5FF8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C72F07-42AC-4826-AE21-6B9E95FDC50B}" type="slidenum">
              <a:rPr lang="en-US" smtClean="0"/>
              <a:t>‹#›</a:t>
            </a:fld>
            <a:endParaRPr lang="en-US"/>
          </a:p>
        </p:txBody>
      </p:sp>
    </p:spTree>
    <p:extLst>
      <p:ext uri="{BB962C8B-B14F-4D97-AF65-F5344CB8AC3E}">
        <p14:creationId xmlns:p14="http://schemas.microsoft.com/office/powerpoint/2010/main" val="2685216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s://www.nist.gov/itl/ai-risk-management-framework" TargetMode="External"/><Relationship Id="rId3" Type="http://schemas.openxmlformats.org/officeDocument/2006/relationships/hyperlink" Target="https://iocdf.org/research/" TargetMode="External"/><Relationship Id="rId7" Type="http://schemas.openxmlformats.org/officeDocument/2006/relationships/hyperlink" Target="https://www.who.int/publications/i/item/9789240029200" TargetMode="External"/><Relationship Id="rId2" Type="http://schemas.openxmlformats.org/officeDocument/2006/relationships/hyperlink" Target="https://www.nimh.nih.gov/health/topics/obsessive-compulsive-disorder-ocd" TargetMode="External"/><Relationship Id="rId1" Type="http://schemas.openxmlformats.org/officeDocument/2006/relationships/slideLayout" Target="../slideLayouts/slideLayout2.xml"/><Relationship Id="rId6" Type="http://schemas.openxmlformats.org/officeDocument/2006/relationships/hyperlink" Target="https://arxiv.org/abs/2602.17669" TargetMode="External"/><Relationship Id="rId5" Type="http://schemas.openxmlformats.org/officeDocument/2006/relationships/hyperlink" Target="https://arxiv.org/abs/2403.15401" TargetMode="External"/><Relationship Id="rId4" Type="http://schemas.openxmlformats.org/officeDocument/2006/relationships/hyperlink" Target="https://www3.ha.org.hk/cph/imh/en/mental-health-info/2/3/5/obsessive-compulsive-disord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1254D-7BB5-E071-FBB7-1E4F3032FF19}"/>
              </a:ext>
            </a:extLst>
          </p:cNvPr>
          <p:cNvSpPr>
            <a:spLocks noGrp="1"/>
          </p:cNvSpPr>
          <p:nvPr>
            <p:ph type="ctrTitle"/>
          </p:nvPr>
        </p:nvSpPr>
        <p:spPr/>
        <p:txBody>
          <a:bodyPr>
            <a:normAutofit fontScale="90000"/>
          </a:bodyPr>
          <a:lstStyle/>
          <a:p>
            <a:r>
              <a:rPr lang="en-US" dirty="0" err="1"/>
              <a:t>ThoughtWave</a:t>
            </a:r>
            <a:r>
              <a:rPr lang="en-US" dirty="0"/>
              <a:t>: an OCD &amp; Intrusive Thought AI assistant</a:t>
            </a:r>
          </a:p>
        </p:txBody>
      </p:sp>
      <p:sp>
        <p:nvSpPr>
          <p:cNvPr id="3" name="Subtitle 2">
            <a:extLst>
              <a:ext uri="{FF2B5EF4-FFF2-40B4-BE49-F238E27FC236}">
                <a16:creationId xmlns:a16="http://schemas.microsoft.com/office/drawing/2014/main" id="{08F210DB-45A1-269A-8007-DAC5892875DB}"/>
              </a:ext>
            </a:extLst>
          </p:cNvPr>
          <p:cNvSpPr>
            <a:spLocks noGrp="1"/>
          </p:cNvSpPr>
          <p:nvPr>
            <p:ph type="subTitle" idx="1"/>
          </p:nvPr>
        </p:nvSpPr>
        <p:spPr/>
        <p:txBody>
          <a:bodyPr/>
          <a:lstStyle/>
          <a:p>
            <a:r>
              <a:rPr lang="en-US" dirty="0"/>
              <a:t>By: </a:t>
            </a:r>
            <a:r>
              <a:rPr lang="en-US" dirty="0" err="1"/>
              <a:t>Vincenntius</a:t>
            </a:r>
            <a:r>
              <a:rPr lang="en-US" dirty="0"/>
              <a:t> Patrick Tunas</a:t>
            </a:r>
          </a:p>
        </p:txBody>
      </p:sp>
    </p:spTree>
    <p:extLst>
      <p:ext uri="{BB962C8B-B14F-4D97-AF65-F5344CB8AC3E}">
        <p14:creationId xmlns:p14="http://schemas.microsoft.com/office/powerpoint/2010/main" val="1194990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934DD-9E12-40DC-C41E-8EFE2295D8D5}"/>
              </a:ext>
            </a:extLst>
          </p:cNvPr>
          <p:cNvSpPr>
            <a:spLocks noGrp="1"/>
          </p:cNvSpPr>
          <p:nvPr>
            <p:ph type="title"/>
          </p:nvPr>
        </p:nvSpPr>
        <p:spPr/>
        <p:txBody>
          <a:bodyPr/>
          <a:lstStyle/>
          <a:p>
            <a:r>
              <a:rPr lang="en-US" dirty="0"/>
              <a:t>Project Description</a:t>
            </a:r>
          </a:p>
        </p:txBody>
      </p:sp>
      <p:sp>
        <p:nvSpPr>
          <p:cNvPr id="3" name="Content Placeholder 2">
            <a:extLst>
              <a:ext uri="{FF2B5EF4-FFF2-40B4-BE49-F238E27FC236}">
                <a16:creationId xmlns:a16="http://schemas.microsoft.com/office/drawing/2014/main" id="{1AC1E453-44D4-1074-A9AB-6F3280BE2A0F}"/>
              </a:ext>
            </a:extLst>
          </p:cNvPr>
          <p:cNvSpPr>
            <a:spLocks noGrp="1"/>
          </p:cNvSpPr>
          <p:nvPr>
            <p:ph idx="1"/>
          </p:nvPr>
        </p:nvSpPr>
        <p:spPr/>
        <p:txBody>
          <a:bodyPr/>
          <a:lstStyle/>
          <a:p>
            <a:r>
              <a:rPr lang="en-US" dirty="0" err="1"/>
              <a:t>ThoughtWave</a:t>
            </a:r>
            <a:r>
              <a:rPr lang="en-US" dirty="0"/>
              <a:t> is a support AI tool for adults that experience distressing Intrusive thoughts and urges to seek repeated reassurance. </a:t>
            </a:r>
          </a:p>
          <a:p>
            <a:r>
              <a:rPr lang="en-US" dirty="0" err="1"/>
              <a:t>ThoughtWave</a:t>
            </a:r>
            <a:r>
              <a:rPr lang="en-US" dirty="0"/>
              <a:t> is an AI application that is built as an adaptive, LLM-Integrated adaptive conversational support system. Its core engineering problem is to be able to recognize when a conversation is beginning to function as a reassurance loop and be able to change its response policy before the AI assistant starts to reinforce the repeated certainty seeking.</a:t>
            </a:r>
          </a:p>
          <a:p>
            <a:endParaRPr lang="en-US" dirty="0"/>
          </a:p>
        </p:txBody>
      </p:sp>
    </p:spTree>
    <p:extLst>
      <p:ext uri="{BB962C8B-B14F-4D97-AF65-F5344CB8AC3E}">
        <p14:creationId xmlns:p14="http://schemas.microsoft.com/office/powerpoint/2010/main" val="840223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07AA1-DA6B-2E80-E976-C431F7A5C734}"/>
              </a:ext>
            </a:extLst>
          </p:cNvPr>
          <p:cNvSpPr>
            <a:spLocks noGrp="1"/>
          </p:cNvSpPr>
          <p:nvPr>
            <p:ph type="title"/>
          </p:nvPr>
        </p:nvSpPr>
        <p:spPr/>
        <p:txBody>
          <a:bodyPr/>
          <a:lstStyle/>
          <a:p>
            <a:r>
              <a:rPr lang="en-US" dirty="0"/>
              <a:t>Proposed MVP</a:t>
            </a:r>
          </a:p>
        </p:txBody>
      </p:sp>
      <p:sp>
        <p:nvSpPr>
          <p:cNvPr id="3" name="Content Placeholder 2">
            <a:extLst>
              <a:ext uri="{FF2B5EF4-FFF2-40B4-BE49-F238E27FC236}">
                <a16:creationId xmlns:a16="http://schemas.microsoft.com/office/drawing/2014/main" id="{88D46D41-2444-8CBA-53D2-1988B249FC51}"/>
              </a:ext>
            </a:extLst>
          </p:cNvPr>
          <p:cNvSpPr>
            <a:spLocks noGrp="1"/>
          </p:cNvSpPr>
          <p:nvPr>
            <p:ph idx="1"/>
          </p:nvPr>
        </p:nvSpPr>
        <p:spPr/>
        <p:txBody>
          <a:bodyPr>
            <a:normAutofit fontScale="85000" lnSpcReduction="20000"/>
          </a:bodyPr>
          <a:lstStyle/>
          <a:p>
            <a:pPr marL="0" indent="0">
              <a:buNone/>
            </a:pPr>
            <a:r>
              <a:rPr lang="en-US" dirty="0" err="1"/>
              <a:t>ThoughtWave</a:t>
            </a:r>
            <a:r>
              <a:rPr lang="en-US" dirty="0"/>
              <a:t> MVP</a:t>
            </a:r>
          </a:p>
          <a:p>
            <a:pPr marL="514350" indent="-514350">
              <a:buFont typeface="+mj-lt"/>
              <a:buAutoNum type="arabicPeriod"/>
            </a:pPr>
            <a:r>
              <a:rPr lang="en-US" dirty="0"/>
              <a:t>At the start the MVP uses a normal first policy.</a:t>
            </a:r>
          </a:p>
          <a:p>
            <a:pPr marL="514350" indent="-514350">
              <a:buFont typeface="+mj-lt"/>
              <a:buAutoNum type="arabicPeriod"/>
            </a:pPr>
            <a:r>
              <a:rPr lang="en-US" dirty="0"/>
              <a:t>Client sends a new/isolated question and receives an ordinary, useful answer</a:t>
            </a:r>
          </a:p>
          <a:p>
            <a:pPr marL="514350" indent="-514350">
              <a:buFont typeface="+mj-lt"/>
              <a:buAutoNum type="arabicPeriod"/>
            </a:pPr>
            <a:r>
              <a:rPr lang="en-US" dirty="0"/>
              <a:t>However as evidence accumulates across conversation turns, The system uses and combines methodologies such as semantic repetition, certainty seeking language, prior reassurance, emotional escalation and user feedback.</a:t>
            </a:r>
          </a:p>
          <a:p>
            <a:pPr marL="514350" indent="-514350">
              <a:buFont typeface="+mj-lt"/>
              <a:buAutoNum type="arabicPeriod"/>
            </a:pPr>
            <a:r>
              <a:rPr lang="en-US" dirty="0"/>
              <a:t>The system identifies and move through 4 internal states:</a:t>
            </a:r>
          </a:p>
          <a:p>
            <a:pPr lvl="2"/>
            <a:r>
              <a:rPr lang="en-US" dirty="0"/>
              <a:t>Normal – the user is asking normally, the system does not detect any meaningful signs of repetitive reassurance-seeking</a:t>
            </a:r>
          </a:p>
          <a:p>
            <a:pPr lvl="2"/>
            <a:r>
              <a:rPr lang="en-US" dirty="0"/>
              <a:t>Monitor – A few mild pattern is being detected by the system, but the system will keep observing and respond briefly.</a:t>
            </a:r>
          </a:p>
          <a:p>
            <a:pPr lvl="2"/>
            <a:r>
              <a:rPr lang="en-US" dirty="0"/>
              <a:t>Possible Loop – </a:t>
            </a:r>
            <a:r>
              <a:rPr lang="en-US" dirty="0" err="1"/>
              <a:t>Repitition</a:t>
            </a:r>
            <a:r>
              <a:rPr lang="en-US" dirty="0"/>
              <a:t>, doubt or reassurance-seeking behavior is becoming noticeable from the user, the system will avoid feeding the cycle</a:t>
            </a:r>
          </a:p>
          <a:p>
            <a:pPr lvl="2"/>
            <a:r>
              <a:rPr lang="en-US" dirty="0"/>
              <a:t>Strong Loop – The system detects a clear repeated reassurance/checking pattern., it will stop giving repeated certainty answers and starts redirecting the user towards tolerating the uncertainty and disengaging from the loop.</a:t>
            </a:r>
          </a:p>
          <a:p>
            <a:pPr lvl="1">
              <a:buFontTx/>
              <a:buChar char="-"/>
            </a:pPr>
            <a:endParaRPr lang="en-US" dirty="0"/>
          </a:p>
          <a:p>
            <a:pPr marL="0" indent="0">
              <a:buNone/>
            </a:pPr>
            <a:endParaRPr lang="en-US" dirty="0"/>
          </a:p>
        </p:txBody>
      </p:sp>
    </p:spTree>
    <p:extLst>
      <p:ext uri="{BB962C8B-B14F-4D97-AF65-F5344CB8AC3E}">
        <p14:creationId xmlns:p14="http://schemas.microsoft.com/office/powerpoint/2010/main" val="1703747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3A05E9E-0BE2-45B0-9A5B-208647A01434}"/>
              </a:ext>
            </a:extLst>
          </p:cNvPr>
          <p:cNvSpPr>
            <a:spLocks noGrp="1"/>
          </p:cNvSpPr>
          <p:nvPr/>
        </p:nvSpPr>
        <p:spPr>
          <a:xfrm>
            <a:off x="666750" y="447675"/>
            <a:ext cx="10668000" cy="628650"/>
          </a:xfrm>
          <a:prstGeom prst="rect">
            <a:avLst/>
          </a:prstGeom>
          <a:noFill/>
          <a:ln w="0">
            <a:noFill/>
          </a:ln>
        </p:spPr>
        <p:txBody>
          <a:bodyPr anchor="ctr">
            <a:noAutofit/>
          </a:bodyPr>
          <a:lstStyle/>
          <a:p>
            <a:pPr>
              <a:defRPr sz="3000" b="1">
                <a:solidFill>
                  <a:srgbClr val="153044"/>
                </a:solidFill>
                <a:latin typeface="Bitstream Charter"/>
                <a:ea typeface="Bitstream Charter"/>
                <a:cs typeface="Bitstream Charter"/>
              </a:defRPr>
            </a:pPr>
            <a:r>
              <a:rPr lang="en-US" sz="3000" b="1" dirty="0">
                <a:solidFill>
                  <a:srgbClr val="153044"/>
                </a:solidFill>
                <a:latin typeface="Bitstream Charter"/>
                <a:ea typeface="Bitstream Charter"/>
                <a:cs typeface="Bitstream Charter"/>
              </a:rPr>
              <a:t>The Research: </a:t>
            </a:r>
            <a:r>
              <a:rPr sz="3000" b="1" dirty="0">
                <a:solidFill>
                  <a:srgbClr val="153044"/>
                </a:solidFill>
                <a:latin typeface="Bitstream Charter"/>
                <a:ea typeface="Bitstream Charter"/>
                <a:cs typeface="Bitstream Charter"/>
              </a:rPr>
              <a:t>OCD and intrusive thoughts</a:t>
            </a:r>
          </a:p>
        </p:txBody>
      </p:sp>
      <p:sp>
        <p:nvSpPr>
          <p:cNvPr id="2" name="Rectangle 1">
            <a:extLst>
              <a:ext uri="{FF2B5EF4-FFF2-40B4-BE49-F238E27FC236}">
                <a16:creationId xmlns:a16="http://schemas.microsoft.com/office/drawing/2014/main" id="{5C11A7EB-A163-4D7C-92AB-F964563631B5}"/>
              </a:ext>
            </a:extLst>
          </p:cNvPr>
          <p:cNvSpPr>
            <a:spLocks noGrp="1"/>
          </p:cNvSpPr>
          <p:nvPr/>
        </p:nvSpPr>
        <p:spPr>
          <a:xfrm>
            <a:off x="685800" y="1066800"/>
            <a:ext cx="10572750" cy="400050"/>
          </a:xfrm>
          <a:prstGeom prst="rect">
            <a:avLst/>
          </a:prstGeom>
          <a:noFill/>
          <a:ln w="0">
            <a:noFill/>
          </a:ln>
        </p:spPr>
        <p:txBody>
          <a:bodyPr anchor="ctr">
            <a:noAutofit/>
          </a:bodyPr>
          <a:lstStyle/>
          <a:p>
            <a:pPr>
              <a:defRPr sz="1725" b="0">
                <a:solidFill>
                  <a:srgbClr val="526778"/>
                </a:solidFill>
                <a:latin typeface="Bitstream Charter"/>
                <a:ea typeface="Bitstream Charter"/>
                <a:cs typeface="Bitstream Charter"/>
              </a:defRPr>
            </a:pPr>
            <a:r>
              <a:rPr sz="1725" b="0" dirty="0">
                <a:solidFill>
                  <a:srgbClr val="526778"/>
                </a:solidFill>
                <a:latin typeface="Bitstream Charter"/>
                <a:ea typeface="Bitstream Charter"/>
                <a:cs typeface="Bitstream Charter"/>
              </a:rPr>
              <a:t>Two different measures of how common an experience is</a:t>
            </a:r>
          </a:p>
        </p:txBody>
      </p:sp>
      <p:sp>
        <p:nvSpPr>
          <p:cNvPr id="3" name="Rectangle 2">
            <a:extLst>
              <a:ext uri="{FF2B5EF4-FFF2-40B4-BE49-F238E27FC236}">
                <a16:creationId xmlns:a16="http://schemas.microsoft.com/office/drawing/2014/main" id="{0E1E9962-D2F0-43A6-B4E3-61D5522F56BC}"/>
              </a:ext>
            </a:extLst>
          </p:cNvPr>
          <p:cNvSpPr>
            <a:spLocks noGrp="1"/>
          </p:cNvSpPr>
          <p:nvPr/>
        </p:nvSpPr>
        <p:spPr>
          <a:xfrm>
            <a:off x="704850" y="1866900"/>
            <a:ext cx="4572000" cy="1381125"/>
          </a:xfrm>
          <a:prstGeom prst="rect">
            <a:avLst/>
          </a:prstGeom>
          <a:noFill/>
          <a:ln w="0">
            <a:noFill/>
          </a:ln>
        </p:spPr>
        <p:txBody>
          <a:bodyPr anchor="ctr">
            <a:noAutofit/>
          </a:bodyPr>
          <a:lstStyle/>
          <a:p>
            <a:pPr>
              <a:defRPr sz="7425" b="1">
                <a:solidFill>
                  <a:srgbClr val="176B77"/>
                </a:solidFill>
                <a:latin typeface="Bitstream Charter"/>
                <a:ea typeface="Bitstream Charter"/>
                <a:cs typeface="Bitstream Charter"/>
              </a:defRPr>
            </a:pPr>
            <a:r>
              <a:rPr sz="7425" b="1">
                <a:solidFill>
                  <a:srgbClr val="176B77"/>
                </a:solidFill>
                <a:latin typeface="Bitstream Charter"/>
                <a:ea typeface="Bitstream Charter"/>
                <a:cs typeface="Bitstream Charter"/>
              </a:rPr>
              <a:t>3.6%</a:t>
            </a:r>
          </a:p>
        </p:txBody>
      </p:sp>
      <p:sp>
        <p:nvSpPr>
          <p:cNvPr id="4" name="Rectangle 3">
            <a:extLst>
              <a:ext uri="{FF2B5EF4-FFF2-40B4-BE49-F238E27FC236}">
                <a16:creationId xmlns:a16="http://schemas.microsoft.com/office/drawing/2014/main" id="{7218AA3A-C8AD-4ADC-89A6-165F6E3EE96E}"/>
              </a:ext>
            </a:extLst>
          </p:cNvPr>
          <p:cNvSpPr>
            <a:spLocks noGrp="1"/>
          </p:cNvSpPr>
          <p:nvPr/>
        </p:nvSpPr>
        <p:spPr>
          <a:xfrm>
            <a:off x="733425" y="3333750"/>
            <a:ext cx="4857750" cy="419100"/>
          </a:xfrm>
          <a:prstGeom prst="rect">
            <a:avLst/>
          </a:prstGeom>
          <a:noFill/>
          <a:ln w="0">
            <a:noFill/>
          </a:ln>
        </p:spPr>
        <p:txBody>
          <a:bodyPr anchor="ctr">
            <a:noAutofit/>
          </a:bodyPr>
          <a:lstStyle/>
          <a:p>
            <a:pPr>
              <a:defRPr sz="2175" b="1">
                <a:solidFill>
                  <a:srgbClr val="153044"/>
                </a:solidFill>
                <a:latin typeface="Bitstream Charter"/>
                <a:ea typeface="Bitstream Charter"/>
                <a:cs typeface="Bitstream Charter"/>
              </a:defRPr>
            </a:pPr>
            <a:r>
              <a:rPr sz="2175" b="1">
                <a:solidFill>
                  <a:srgbClr val="153044"/>
                </a:solidFill>
                <a:latin typeface="Bitstream Charter"/>
                <a:ea typeface="Bitstream Charter"/>
                <a:cs typeface="Bitstream Charter"/>
              </a:rPr>
              <a:t>OCD in Australia</a:t>
            </a:r>
          </a:p>
        </p:txBody>
      </p:sp>
      <p:sp>
        <p:nvSpPr>
          <p:cNvPr id="5" name="Rectangle 4">
            <a:extLst>
              <a:ext uri="{FF2B5EF4-FFF2-40B4-BE49-F238E27FC236}">
                <a16:creationId xmlns:a16="http://schemas.microsoft.com/office/drawing/2014/main" id="{3D2F69ED-782B-47CF-933F-A412D21BA4A1}"/>
              </a:ext>
            </a:extLst>
          </p:cNvPr>
          <p:cNvSpPr>
            <a:spLocks noGrp="1"/>
          </p:cNvSpPr>
          <p:nvPr/>
        </p:nvSpPr>
        <p:spPr>
          <a:xfrm>
            <a:off x="742950" y="3886200"/>
            <a:ext cx="4857750" cy="857250"/>
          </a:xfrm>
          <a:prstGeom prst="rect">
            <a:avLst/>
          </a:prstGeom>
          <a:noFill/>
          <a:ln w="0">
            <a:noFill/>
          </a:ln>
        </p:spPr>
        <p:txBody>
          <a:bodyPr anchor="ctr">
            <a:noAutofit/>
          </a:bodyPr>
          <a:lstStyle/>
          <a:p>
            <a:pPr>
              <a:defRPr sz="1500" b="0">
                <a:solidFill>
                  <a:srgbClr val="4D6473"/>
                </a:solidFill>
                <a:latin typeface="Bitstream Charter"/>
                <a:ea typeface="Bitstream Charter"/>
                <a:cs typeface="Bitstream Charter"/>
              </a:defRPr>
            </a:pPr>
            <a:r>
              <a:rPr sz="1500" b="0">
                <a:solidFill>
                  <a:srgbClr val="4D6473"/>
                </a:solidFill>
                <a:latin typeface="Bitstream Charter"/>
                <a:ea typeface="Bitstream Charter"/>
                <a:cs typeface="Bitstream Charter"/>
              </a:rPr>
              <a:t>Aged 16–85, in the previous 12 months</a:t>
            </a:r>
          </a:p>
          <a:p>
            <a:pPr>
              <a:defRPr sz="1500" b="0">
                <a:solidFill>
                  <a:srgbClr val="4D6473"/>
                </a:solidFill>
                <a:latin typeface="Bitstream Charter"/>
                <a:ea typeface="Bitstream Charter"/>
                <a:cs typeface="Bitstream Charter"/>
              </a:defRPr>
            </a:pPr>
            <a:r>
              <a:rPr sz="1500" b="0">
                <a:solidFill>
                  <a:srgbClr val="4D6473"/>
                </a:solidFill>
                <a:latin typeface="Bitstream Charter"/>
                <a:ea typeface="Bitstream Charter"/>
                <a:cs typeface="Bitstream Charter"/>
              </a:rPr>
              <a:t>ABS national survey, 2020–2022</a:t>
            </a:r>
          </a:p>
        </p:txBody>
      </p:sp>
      <p:sp>
        <p:nvSpPr>
          <p:cNvPr id="6" name="Rectangle 5">
            <a:extLst>
              <a:ext uri="{FF2B5EF4-FFF2-40B4-BE49-F238E27FC236}">
                <a16:creationId xmlns:a16="http://schemas.microsoft.com/office/drawing/2014/main" id="{06CA4145-9904-4624-823A-848CBBCE7BED}"/>
              </a:ext>
            </a:extLst>
          </p:cNvPr>
          <p:cNvSpPr>
            <a:spLocks noGrp="1"/>
          </p:cNvSpPr>
          <p:nvPr/>
        </p:nvSpPr>
        <p:spPr>
          <a:xfrm>
            <a:off x="6486525" y="1866900"/>
            <a:ext cx="4572000" cy="1381125"/>
          </a:xfrm>
          <a:prstGeom prst="rect">
            <a:avLst/>
          </a:prstGeom>
          <a:noFill/>
          <a:ln w="0">
            <a:noFill/>
          </a:ln>
        </p:spPr>
        <p:txBody>
          <a:bodyPr anchor="ctr">
            <a:noAutofit/>
          </a:bodyPr>
          <a:lstStyle/>
          <a:p>
            <a:pPr>
              <a:defRPr sz="7425" b="1">
                <a:solidFill>
                  <a:srgbClr val="9D5D48"/>
                </a:solidFill>
                <a:latin typeface="Bitstream Charter"/>
                <a:ea typeface="Bitstream Charter"/>
                <a:cs typeface="Bitstream Charter"/>
              </a:defRPr>
            </a:pPr>
            <a:r>
              <a:rPr sz="7425" b="1">
                <a:solidFill>
                  <a:srgbClr val="9D5D48"/>
                </a:solidFill>
                <a:latin typeface="Bitstream Charter"/>
                <a:ea typeface="Bitstream Charter"/>
                <a:cs typeface="Bitstream Charter"/>
              </a:rPr>
              <a:t>94%</a:t>
            </a:r>
          </a:p>
        </p:txBody>
      </p:sp>
      <p:sp>
        <p:nvSpPr>
          <p:cNvPr id="7" name="Rectangle 6">
            <a:extLst>
              <a:ext uri="{FF2B5EF4-FFF2-40B4-BE49-F238E27FC236}">
                <a16:creationId xmlns:a16="http://schemas.microsoft.com/office/drawing/2014/main" id="{5FB23E71-31D3-4670-98BB-2990BDA8A868}"/>
              </a:ext>
            </a:extLst>
          </p:cNvPr>
          <p:cNvSpPr>
            <a:spLocks noGrp="1"/>
          </p:cNvSpPr>
          <p:nvPr/>
        </p:nvSpPr>
        <p:spPr>
          <a:xfrm>
            <a:off x="6524625" y="3333750"/>
            <a:ext cx="4857750" cy="419100"/>
          </a:xfrm>
          <a:prstGeom prst="rect">
            <a:avLst/>
          </a:prstGeom>
          <a:noFill/>
          <a:ln w="0">
            <a:noFill/>
          </a:ln>
        </p:spPr>
        <p:txBody>
          <a:bodyPr anchor="ctr">
            <a:noAutofit/>
          </a:bodyPr>
          <a:lstStyle/>
          <a:p>
            <a:pPr>
              <a:defRPr sz="2175" b="1">
                <a:solidFill>
                  <a:srgbClr val="153044"/>
                </a:solidFill>
                <a:latin typeface="Bitstream Charter"/>
                <a:ea typeface="Bitstream Charter"/>
                <a:cs typeface="Bitstream Charter"/>
              </a:defRPr>
            </a:pPr>
            <a:r>
              <a:rPr sz="2175" b="1">
                <a:solidFill>
                  <a:srgbClr val="153044"/>
                </a:solidFill>
                <a:latin typeface="Bitstream Charter"/>
                <a:ea typeface="Bitstream Charter"/>
                <a:cs typeface="Bitstream Charter"/>
              </a:rPr>
              <a:t>Intrusive thoughts</a:t>
            </a:r>
          </a:p>
        </p:txBody>
      </p:sp>
      <p:sp>
        <p:nvSpPr>
          <p:cNvPr id="8" name="Rectangle 7">
            <a:extLst>
              <a:ext uri="{FF2B5EF4-FFF2-40B4-BE49-F238E27FC236}">
                <a16:creationId xmlns:a16="http://schemas.microsoft.com/office/drawing/2014/main" id="{89ADBD92-AABC-473B-B1FC-02D048066160}"/>
              </a:ext>
            </a:extLst>
          </p:cNvPr>
          <p:cNvSpPr>
            <a:spLocks noGrp="1"/>
          </p:cNvSpPr>
          <p:nvPr/>
        </p:nvSpPr>
        <p:spPr>
          <a:xfrm>
            <a:off x="6534150" y="3886200"/>
            <a:ext cx="4857750" cy="857250"/>
          </a:xfrm>
          <a:prstGeom prst="rect">
            <a:avLst/>
          </a:prstGeom>
          <a:noFill/>
          <a:ln w="0">
            <a:noFill/>
          </a:ln>
        </p:spPr>
        <p:txBody>
          <a:bodyPr anchor="ctr">
            <a:noAutofit/>
          </a:bodyPr>
          <a:lstStyle/>
          <a:p>
            <a:pPr>
              <a:defRPr sz="1500" b="0">
                <a:solidFill>
                  <a:srgbClr val="4D6473"/>
                </a:solidFill>
                <a:latin typeface="Bitstream Charter"/>
                <a:ea typeface="Bitstream Charter"/>
                <a:cs typeface="Bitstream Charter"/>
              </a:defRPr>
            </a:pPr>
            <a:r>
              <a:rPr sz="1500" b="0">
                <a:solidFill>
                  <a:srgbClr val="4D6473"/>
                </a:solidFill>
                <a:latin typeface="Bitstream Charter"/>
                <a:ea typeface="Bitstream Charter"/>
                <a:cs typeface="Bitstream Charter"/>
              </a:rPr>
              <a:t>At least one in the previous 3 months</a:t>
            </a:r>
          </a:p>
          <a:p>
            <a:pPr>
              <a:defRPr sz="1500" b="0">
                <a:solidFill>
                  <a:srgbClr val="4D6473"/>
                </a:solidFill>
                <a:latin typeface="Bitstream Charter"/>
                <a:ea typeface="Bitstream Charter"/>
                <a:cs typeface="Bitstream Charter"/>
              </a:defRPr>
            </a:pPr>
            <a:r>
              <a:rPr sz="1500" b="0">
                <a:solidFill>
                  <a:srgbClr val="4D6473"/>
                </a:solidFill>
                <a:latin typeface="Bitstream Charter"/>
                <a:ea typeface="Bitstream Charter"/>
                <a:cs typeface="Bitstream Charter"/>
              </a:rPr>
              <a:t>International study of 777 university students</a:t>
            </a:r>
          </a:p>
        </p:txBody>
      </p:sp>
      <p:sp>
        <p:nvSpPr>
          <p:cNvPr id="9" name="Rectangle 8">
            <a:extLst>
              <a:ext uri="{FF2B5EF4-FFF2-40B4-BE49-F238E27FC236}">
                <a16:creationId xmlns:a16="http://schemas.microsoft.com/office/drawing/2014/main" id="{0F425D9D-1596-4EB3-A04D-9A88CA6604F8}"/>
              </a:ext>
            </a:extLst>
          </p:cNvPr>
          <p:cNvSpPr>
            <a:spLocks noGrp="1"/>
          </p:cNvSpPr>
          <p:nvPr/>
        </p:nvSpPr>
        <p:spPr>
          <a:xfrm>
            <a:off x="723900" y="5153025"/>
            <a:ext cx="10696575" cy="552450"/>
          </a:xfrm>
          <a:prstGeom prst="rect">
            <a:avLst/>
          </a:prstGeom>
          <a:noFill/>
          <a:ln w="0">
            <a:noFill/>
          </a:ln>
        </p:spPr>
        <p:txBody>
          <a:bodyPr anchor="ctr">
            <a:noAutofit/>
          </a:bodyPr>
          <a:lstStyle/>
          <a:p>
            <a:pPr>
              <a:defRPr sz="1575" b="1">
                <a:solidFill>
                  <a:srgbClr val="153044"/>
                </a:solidFill>
                <a:latin typeface="Bitstream Charter"/>
                <a:ea typeface="Bitstream Charter"/>
                <a:cs typeface="Bitstream Charter"/>
              </a:defRPr>
            </a:pPr>
            <a:r>
              <a:rPr sz="1575" b="1" dirty="0">
                <a:solidFill>
                  <a:srgbClr val="153044"/>
                </a:solidFill>
                <a:latin typeface="Bitstream Charter"/>
                <a:ea typeface="Bitstream Charter"/>
                <a:cs typeface="Bitstream Charter"/>
              </a:rPr>
              <a:t>The 94% figure includes an Australian study site, but it is not an Australian population estimate.</a:t>
            </a:r>
          </a:p>
        </p:txBody>
      </p:sp>
      <p:sp>
        <p:nvSpPr>
          <p:cNvPr id="10" name="Rectangle 9">
            <a:extLst>
              <a:ext uri="{FF2B5EF4-FFF2-40B4-BE49-F238E27FC236}">
                <a16:creationId xmlns:a16="http://schemas.microsoft.com/office/drawing/2014/main" id="{C0CF3B62-5C3F-4E7C-9174-F8F1F6BF8BD6}"/>
              </a:ext>
            </a:extLst>
          </p:cNvPr>
          <p:cNvSpPr>
            <a:spLocks noGrp="1"/>
          </p:cNvSpPr>
          <p:nvPr/>
        </p:nvSpPr>
        <p:spPr>
          <a:xfrm>
            <a:off x="742950" y="5991225"/>
            <a:ext cx="10525125" cy="571500"/>
          </a:xfrm>
          <a:prstGeom prst="rect">
            <a:avLst/>
          </a:prstGeom>
          <a:noFill/>
          <a:ln w="0">
            <a:noFill/>
          </a:ln>
        </p:spPr>
        <p:txBody>
          <a:bodyPr anchor="ctr">
            <a:noAutofit/>
          </a:bodyPr>
          <a:lstStyle/>
          <a:p>
            <a:pPr>
              <a:defRPr sz="1125" b="0">
                <a:solidFill>
                  <a:srgbClr val="647989"/>
                </a:solidFill>
                <a:latin typeface="Bitstream Charter"/>
                <a:ea typeface="Bitstream Charter"/>
                <a:cs typeface="Bitstream Charter"/>
              </a:defRPr>
            </a:pPr>
            <a:r>
              <a:rPr sz="1125" b="0">
                <a:solidFill>
                  <a:srgbClr val="647989"/>
                </a:solidFill>
                <a:latin typeface="Bitstream Charter"/>
                <a:ea typeface="Bitstream Charter"/>
                <a:cs typeface="Bitstream Charter"/>
              </a:rPr>
              <a:t>Sources: Australian Bureau of Statistics, National Study of Mental Health and Wellbeing (2020–2022); Radomsky et al., Journal of Obsessive-Compulsive and Related Disorders (2014).</a:t>
            </a:r>
          </a:p>
        </p:txBody>
      </p:sp>
    </p:spTree>
    <p:extLst>
      <p:ext uri="{BB962C8B-B14F-4D97-AF65-F5344CB8AC3E}">
        <p14:creationId xmlns:p14="http://schemas.microsoft.com/office/powerpoint/2010/main" val="803409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3D36C-E8C6-B15D-7113-5CB71D834DFE}"/>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F773DB02-6E72-C5FA-7A56-D1ACA9F42E88}"/>
              </a:ext>
            </a:extLst>
          </p:cNvPr>
          <p:cNvSpPr>
            <a:spLocks noGrp="1"/>
          </p:cNvSpPr>
          <p:nvPr>
            <p:ph idx="1"/>
          </p:nvPr>
        </p:nvSpPr>
        <p:spPr/>
        <p:txBody>
          <a:bodyPr>
            <a:normAutofit fontScale="92500" lnSpcReduction="10000"/>
          </a:bodyPr>
          <a:lstStyle/>
          <a:p>
            <a:r>
              <a:rPr lang="en-US" dirty="0"/>
              <a:t>People may ask an assistant about morality, faith, health, identity, relationships, or safety for many legitimate reasons. The same topic can later become a repeated attempt to obtain complete certainty. A generic chatbot typically treats every message independently and keeps giving increasingly confident reassurance. That may provide brief relief while teaching the user to return whenever doubt reappears.</a:t>
            </a:r>
          </a:p>
          <a:p>
            <a:r>
              <a:rPr lang="en-US" dirty="0" err="1"/>
              <a:t>ThoughtWave</a:t>
            </a:r>
            <a:r>
              <a:rPr lang="en-US" dirty="0"/>
              <a:t> addresses the function of the interaction, not the topic itself. The system asks: Is this a new information request, or is the conversation repeatedly trying to neutralize the same uncertainty? This distinction is essential because intrusive thoughts can occur outside OCD, repeated behavior is not automatically a compulsion, and diagnosis requires clinical assessment and functional context. [1][3]</a:t>
            </a:r>
          </a:p>
          <a:p>
            <a:endParaRPr lang="en-US" dirty="0"/>
          </a:p>
        </p:txBody>
      </p:sp>
    </p:spTree>
    <p:extLst>
      <p:ext uri="{BB962C8B-B14F-4D97-AF65-F5344CB8AC3E}">
        <p14:creationId xmlns:p14="http://schemas.microsoft.com/office/powerpoint/2010/main" val="2958768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12283-8253-769A-C55E-F0DC25D22F07}"/>
              </a:ext>
            </a:extLst>
          </p:cNvPr>
          <p:cNvSpPr>
            <a:spLocks noGrp="1"/>
          </p:cNvSpPr>
          <p:nvPr>
            <p:ph type="title"/>
          </p:nvPr>
        </p:nvSpPr>
        <p:spPr/>
        <p:txBody>
          <a:bodyPr/>
          <a:lstStyle/>
          <a:p>
            <a:r>
              <a:rPr lang="en-US" dirty="0"/>
              <a:t>Research</a:t>
            </a:r>
          </a:p>
        </p:txBody>
      </p:sp>
      <p:sp>
        <p:nvSpPr>
          <p:cNvPr id="3" name="Content Placeholder 2">
            <a:extLst>
              <a:ext uri="{FF2B5EF4-FFF2-40B4-BE49-F238E27FC236}">
                <a16:creationId xmlns:a16="http://schemas.microsoft.com/office/drawing/2014/main" id="{6E004FE4-FFF2-5A41-347C-BA645649F386}"/>
              </a:ext>
            </a:extLst>
          </p:cNvPr>
          <p:cNvSpPr>
            <a:spLocks noGrp="1"/>
          </p:cNvSpPr>
          <p:nvPr>
            <p:ph idx="1"/>
          </p:nvPr>
        </p:nvSpPr>
        <p:spPr/>
        <p:txBody>
          <a:bodyPr>
            <a:normAutofit fontScale="85000" lnSpcReduction="20000"/>
          </a:bodyPr>
          <a:lstStyle/>
          <a:p>
            <a:pPr lvl="0"/>
            <a:r>
              <a:rPr lang="en-US" dirty="0"/>
              <a:t>OCD is characterized by recurring obsessions, compulsions, or both, and symptoms may cause significant distress or interfere with daily life. A single unusual thought is therefore not sufficient evidence for diagnosis. [1]</a:t>
            </a:r>
          </a:p>
          <a:p>
            <a:pPr lvl="0"/>
            <a:r>
              <a:rPr lang="en-US" dirty="0"/>
              <a:t>ERP (Exposure &amp; Response Prevention is a strongly supported and widely used first-line psychological treatment for OCD. </a:t>
            </a:r>
            <a:r>
              <a:rPr lang="en-US" dirty="0" err="1"/>
              <a:t>ThoughtWave</a:t>
            </a:r>
            <a:r>
              <a:rPr lang="en-US" dirty="0"/>
              <a:t> should not independently deliver exposure treatment; however, it can avoid repeatedly neutralizing uncertainty with stronger reassurance. [2]</a:t>
            </a:r>
          </a:p>
          <a:p>
            <a:pPr lvl="0"/>
            <a:r>
              <a:rPr lang="en-US" dirty="0"/>
              <a:t>Digital reassurance seeking can become repetitive and may be especially relevant to always-available search engines and AI assistants. The function of reassurance, not just the topic, matters. [3]</a:t>
            </a:r>
          </a:p>
          <a:p>
            <a:pPr lvl="0"/>
            <a:r>
              <a:rPr lang="en-US" dirty="0"/>
              <a:t>A systematic review of LLMs in mental health found substantial potential but also concerns involving inconsistent content, hallucination, interpretability, privacy, over-reliance, and insufficient clinical evidence. The assistant should remain a support tool rather than a substitute for professional care. [4]</a:t>
            </a:r>
          </a:p>
        </p:txBody>
      </p:sp>
    </p:spTree>
    <p:extLst>
      <p:ext uri="{BB962C8B-B14F-4D97-AF65-F5344CB8AC3E}">
        <p14:creationId xmlns:p14="http://schemas.microsoft.com/office/powerpoint/2010/main" val="610934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60CDA-A4ED-9BCA-F92D-21C1592E8CBE}"/>
              </a:ext>
            </a:extLst>
          </p:cNvPr>
          <p:cNvSpPr>
            <a:spLocks noGrp="1"/>
          </p:cNvSpPr>
          <p:nvPr>
            <p:ph type="title"/>
          </p:nvPr>
        </p:nvSpPr>
        <p:spPr/>
        <p:txBody>
          <a:bodyPr/>
          <a:lstStyle/>
          <a:p>
            <a:r>
              <a:rPr lang="en-US" dirty="0"/>
              <a:t>Approach</a:t>
            </a:r>
          </a:p>
        </p:txBody>
      </p:sp>
      <p:sp>
        <p:nvSpPr>
          <p:cNvPr id="3" name="Content Placeholder 2">
            <a:extLst>
              <a:ext uri="{FF2B5EF4-FFF2-40B4-BE49-F238E27FC236}">
                <a16:creationId xmlns:a16="http://schemas.microsoft.com/office/drawing/2014/main" id="{FBE5DA51-46DB-27E6-9B3A-AEEC1C466CEB}"/>
              </a:ext>
            </a:extLst>
          </p:cNvPr>
          <p:cNvSpPr>
            <a:spLocks noGrp="1"/>
          </p:cNvSpPr>
          <p:nvPr>
            <p:ph idx="1"/>
          </p:nvPr>
        </p:nvSpPr>
        <p:spPr/>
        <p:txBody>
          <a:bodyPr>
            <a:normAutofit fontScale="92500" lnSpcReduction="10000"/>
          </a:bodyPr>
          <a:lstStyle/>
          <a:p>
            <a:r>
              <a:rPr lang="en-US" dirty="0" err="1"/>
              <a:t>ThoughtWave</a:t>
            </a:r>
            <a:r>
              <a:rPr lang="en-US" dirty="0"/>
              <a:t> product concept is based on the research with the established OCD knowledge:</a:t>
            </a:r>
          </a:p>
          <a:p>
            <a:pPr lvl="1"/>
            <a:r>
              <a:rPr lang="en-US" dirty="0"/>
              <a:t>obsessions can involve recurring intrusive thoughts</a:t>
            </a:r>
          </a:p>
          <a:p>
            <a:pPr lvl="1"/>
            <a:r>
              <a:rPr lang="en-US" dirty="0"/>
              <a:t>compulsions are repetitive behaviors</a:t>
            </a:r>
          </a:p>
          <a:p>
            <a:pPr lvl="1"/>
            <a:r>
              <a:rPr lang="en-US" dirty="0"/>
              <a:t>reassurance seeking can function as a compulsion</a:t>
            </a:r>
          </a:p>
          <a:p>
            <a:r>
              <a:rPr lang="en-US" dirty="0"/>
              <a:t>CBT with exposure and response prevention is the evidence-based treatment. The product does not attempt to provide ERP or diagnose OCD, instead the app focuses on detecting repeated certainty-seeking pattern and avoid providing the user with escalating guarantees and providing mindfulness/CBT approach to the user such as reminding the user to just accept the thought, don’t fight the thought, improving the user’s tolerance of uncertainty and bring the user back to the present.</a:t>
            </a:r>
          </a:p>
        </p:txBody>
      </p:sp>
    </p:spTree>
    <p:extLst>
      <p:ext uri="{BB962C8B-B14F-4D97-AF65-F5344CB8AC3E}">
        <p14:creationId xmlns:p14="http://schemas.microsoft.com/office/powerpoint/2010/main" val="2253201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A18EE-8F05-5074-9D5F-F632CAC12AF5}"/>
              </a:ext>
            </a:extLst>
          </p:cNvPr>
          <p:cNvSpPr>
            <a:spLocks noGrp="1"/>
          </p:cNvSpPr>
          <p:nvPr>
            <p:ph type="title"/>
          </p:nvPr>
        </p:nvSpPr>
        <p:spPr/>
        <p:txBody>
          <a:bodyPr/>
          <a:lstStyle/>
          <a:p>
            <a:r>
              <a:rPr lang="en-US" dirty="0"/>
              <a:t>Solutions</a:t>
            </a:r>
          </a:p>
        </p:txBody>
      </p:sp>
      <p:sp>
        <p:nvSpPr>
          <p:cNvPr id="3" name="Content Placeholder 2">
            <a:extLst>
              <a:ext uri="{FF2B5EF4-FFF2-40B4-BE49-F238E27FC236}">
                <a16:creationId xmlns:a16="http://schemas.microsoft.com/office/drawing/2014/main" id="{06D822BD-853B-F707-18A3-DF2FF8AF641E}"/>
              </a:ext>
            </a:extLst>
          </p:cNvPr>
          <p:cNvSpPr>
            <a:spLocks noGrp="1"/>
          </p:cNvSpPr>
          <p:nvPr>
            <p:ph idx="1"/>
          </p:nvPr>
        </p:nvSpPr>
        <p:spPr/>
        <p:txBody>
          <a:bodyPr/>
          <a:lstStyle/>
          <a:p>
            <a:r>
              <a:rPr lang="en-US" dirty="0" err="1"/>
              <a:t>ThoughtWave</a:t>
            </a:r>
            <a:r>
              <a:rPr lang="en-US" dirty="0"/>
              <a:t>, the OCD &amp; Intrusive Thought AI assistant will be implemented inside a single </a:t>
            </a:r>
            <a:r>
              <a:rPr lang="en-US" dirty="0" err="1"/>
              <a:t>streamlit</a:t>
            </a:r>
            <a:r>
              <a:rPr lang="en-US" dirty="0"/>
              <a:t> application with a small deterministic policy layer, a structured language model analysis call, Local semantic similarity and  a lightweight SQLite history store.</a:t>
            </a:r>
          </a:p>
          <a:p>
            <a:endParaRPr lang="en-US" dirty="0"/>
          </a:p>
        </p:txBody>
      </p:sp>
    </p:spTree>
    <p:extLst>
      <p:ext uri="{BB962C8B-B14F-4D97-AF65-F5344CB8AC3E}">
        <p14:creationId xmlns:p14="http://schemas.microsoft.com/office/powerpoint/2010/main" val="1698908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222CA-3431-8FFF-1EE6-C5E10CE2A4B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6308207-D95D-76FA-CC33-AF45E1C731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67910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0FD9A-6F4C-DD89-FA74-773995810BA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45323D0-CB96-E0EE-C3CA-87760B13D9B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12123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E820-6691-13EE-DE0A-6C614F957009}"/>
              </a:ext>
            </a:extLst>
          </p:cNvPr>
          <p:cNvSpPr>
            <a:spLocks noGrp="1"/>
          </p:cNvSpPr>
          <p:nvPr>
            <p:ph type="title"/>
          </p:nvPr>
        </p:nvSpPr>
        <p:spPr/>
        <p:txBody>
          <a:bodyPr/>
          <a:lstStyle/>
          <a:p>
            <a:r>
              <a:rPr lang="en-US" dirty="0"/>
              <a:t>Solutions: </a:t>
            </a:r>
            <a:r>
              <a:rPr lang="en-US" dirty="0" err="1"/>
              <a:t>ThoughtWave</a:t>
            </a:r>
            <a:r>
              <a:rPr lang="en-US" dirty="0"/>
              <a:t> Product Feature</a:t>
            </a:r>
          </a:p>
        </p:txBody>
      </p:sp>
      <p:sp>
        <p:nvSpPr>
          <p:cNvPr id="3" name="Content Placeholder 2">
            <a:extLst>
              <a:ext uri="{FF2B5EF4-FFF2-40B4-BE49-F238E27FC236}">
                <a16:creationId xmlns:a16="http://schemas.microsoft.com/office/drawing/2014/main" id="{F7507D2E-6E05-0387-0865-0533B3969A3F}"/>
              </a:ext>
            </a:extLst>
          </p:cNvPr>
          <p:cNvSpPr>
            <a:spLocks noGrp="1"/>
          </p:cNvSpPr>
          <p:nvPr>
            <p:ph idx="1"/>
          </p:nvPr>
        </p:nvSpPr>
        <p:spPr/>
        <p:txBody>
          <a:bodyPr>
            <a:normAutofit fontScale="92500" lnSpcReduction="20000"/>
          </a:bodyPr>
          <a:lstStyle/>
          <a:p>
            <a:r>
              <a:rPr lang="en-US" dirty="0"/>
              <a:t>Chat: User can send text input and the AI assistant can provide a response to the user question</a:t>
            </a:r>
          </a:p>
          <a:p>
            <a:r>
              <a:rPr lang="en-US" dirty="0"/>
              <a:t>Chat history / Session Persistence: User’s chat history will be stored in order for the user’s </a:t>
            </a:r>
            <a:r>
              <a:rPr lang="en-US" dirty="0" err="1"/>
              <a:t>behaviour</a:t>
            </a:r>
            <a:r>
              <a:rPr lang="en-US" dirty="0"/>
              <a:t> to be able to be monitored.</a:t>
            </a:r>
          </a:p>
          <a:p>
            <a:r>
              <a:rPr lang="en-US" dirty="0"/>
              <a:t>Semantic search: The chat history will be rebuilt in a vector DB as embeddings vector. When after a few turns, the chat embeddings are similar, than the system will take note of the </a:t>
            </a:r>
            <a:r>
              <a:rPr lang="en-US" dirty="0" err="1"/>
              <a:t>behaviour</a:t>
            </a:r>
            <a:r>
              <a:rPr lang="en-US" dirty="0"/>
              <a:t> state as possible reassurance seeking loop.</a:t>
            </a:r>
          </a:p>
          <a:p>
            <a:r>
              <a:rPr lang="en-US" dirty="0"/>
              <a:t>User’s </a:t>
            </a:r>
            <a:r>
              <a:rPr lang="en-US" dirty="0" err="1"/>
              <a:t>Behaviour</a:t>
            </a:r>
            <a:r>
              <a:rPr lang="en-US" dirty="0"/>
              <a:t> State analysis: based on the user’s conversation history with the AI assistant, the user will use semantic search to detect similarity between the user’s responses.</a:t>
            </a:r>
          </a:p>
          <a:p>
            <a:r>
              <a:rPr lang="en-US" dirty="0"/>
              <a:t>AI Adaptive Policy: The AI assistant’s response will adapt based on the user’s behavior</a:t>
            </a:r>
          </a:p>
          <a:p>
            <a:endParaRPr lang="en-US" dirty="0"/>
          </a:p>
        </p:txBody>
      </p:sp>
    </p:spTree>
    <p:extLst>
      <p:ext uri="{BB962C8B-B14F-4D97-AF65-F5344CB8AC3E}">
        <p14:creationId xmlns:p14="http://schemas.microsoft.com/office/powerpoint/2010/main" val="2615879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BAFE6-C01B-093C-6E43-46C72F6BA609}"/>
              </a:ext>
            </a:extLst>
          </p:cNvPr>
          <p:cNvSpPr>
            <a:spLocks noGrp="1"/>
          </p:cNvSpPr>
          <p:nvPr>
            <p:ph type="title"/>
          </p:nvPr>
        </p:nvSpPr>
        <p:spPr/>
        <p:txBody>
          <a:bodyPr/>
          <a:lstStyle/>
          <a:p>
            <a:r>
              <a:rPr lang="en-US" dirty="0"/>
              <a:t>User Experience</a:t>
            </a:r>
          </a:p>
        </p:txBody>
      </p:sp>
      <p:sp>
        <p:nvSpPr>
          <p:cNvPr id="3" name="Content Placeholder 2">
            <a:extLst>
              <a:ext uri="{FF2B5EF4-FFF2-40B4-BE49-F238E27FC236}">
                <a16:creationId xmlns:a16="http://schemas.microsoft.com/office/drawing/2014/main" id="{631BEE98-5334-F452-86F0-3A6DCDFA2236}"/>
              </a:ext>
            </a:extLst>
          </p:cNvPr>
          <p:cNvSpPr>
            <a:spLocks noGrp="1"/>
          </p:cNvSpPr>
          <p:nvPr>
            <p:ph idx="1"/>
          </p:nvPr>
        </p:nvSpPr>
        <p:spPr/>
        <p:txBody>
          <a:bodyPr>
            <a:normAutofit fontScale="85000" lnSpcReduction="20000"/>
          </a:bodyPr>
          <a:lstStyle/>
          <a:p>
            <a:pPr marL="514350" indent="-514350">
              <a:buAutoNum type="arabicPeriod"/>
            </a:pPr>
            <a:r>
              <a:rPr lang="en-US" dirty="0"/>
              <a:t>The user opens the </a:t>
            </a:r>
            <a:r>
              <a:rPr lang="en-US" dirty="0" err="1"/>
              <a:t>Streamlit</a:t>
            </a:r>
            <a:r>
              <a:rPr lang="en-US" dirty="0"/>
              <a:t> application and starts or resumes a conversation.</a:t>
            </a:r>
          </a:p>
          <a:p>
            <a:pPr marL="514350" indent="-514350">
              <a:buFont typeface="Arial" panose="020B0604020202020204" pitchFamily="34" charset="0"/>
              <a:buAutoNum type="arabicPeriod"/>
            </a:pPr>
            <a:r>
              <a:rPr lang="en-US" dirty="0"/>
              <a:t>The user sends a message. The message is sent to the LLM and the LLM provides an answer</a:t>
            </a:r>
          </a:p>
          <a:p>
            <a:pPr marL="514350" indent="-514350">
              <a:buFont typeface="Arial" panose="020B0604020202020204" pitchFamily="34" charset="0"/>
              <a:buAutoNum type="arabicPeriod"/>
            </a:pPr>
            <a:r>
              <a:rPr lang="en-US" dirty="0"/>
              <a:t>The User’s message is saved in SQLite as a chat history. From SQLite, the application extracts the chat history and embeds the text locally. After the first turn finished, the messages will be compared with previous user messages as a vector embedding using semantic search</a:t>
            </a:r>
          </a:p>
          <a:p>
            <a:pPr marL="514350" indent="-514350">
              <a:buFont typeface="Arial" panose="020B0604020202020204" pitchFamily="34" charset="0"/>
              <a:buAutoNum type="arabicPeriod"/>
            </a:pPr>
            <a:r>
              <a:rPr lang="en-US" dirty="0"/>
              <a:t>The system detects the user’s </a:t>
            </a:r>
            <a:r>
              <a:rPr lang="en-US" dirty="0" err="1"/>
              <a:t>behaviour</a:t>
            </a:r>
            <a:r>
              <a:rPr lang="en-US" dirty="0"/>
              <a:t> state, it uses a combination of semantic repetition with simple certainty-seeking phrases and assigns NORMAL, MONITOR, POSSIBLE or STRONG_LOOP. The user’s </a:t>
            </a:r>
            <a:r>
              <a:rPr lang="en-US" dirty="0" err="1"/>
              <a:t>behaviour</a:t>
            </a:r>
            <a:r>
              <a:rPr lang="en-US" dirty="0"/>
              <a:t> state will lead to different response mode for the LLM.</a:t>
            </a:r>
          </a:p>
          <a:p>
            <a:pPr marL="514350" indent="-514350">
              <a:buFont typeface="Arial" panose="020B0604020202020204" pitchFamily="34" charset="0"/>
              <a:buAutoNum type="arabicPeriod"/>
            </a:pPr>
            <a:r>
              <a:rPr lang="en-US" dirty="0"/>
              <a:t>The LLM receives the core </a:t>
            </a:r>
            <a:r>
              <a:rPr lang="en-US" dirty="0" err="1"/>
              <a:t>ThoughtWave</a:t>
            </a:r>
            <a:r>
              <a:rPr lang="en-US" dirty="0"/>
              <a:t> system prompt, the LLM’s response mode, recent chat context, and a few semantically related prior user messages.</a:t>
            </a:r>
          </a:p>
          <a:p>
            <a:pPr marL="514350" indent="-514350">
              <a:buAutoNum type="arabicPeriod"/>
            </a:pPr>
            <a:endParaRPr lang="en-US" dirty="0"/>
          </a:p>
        </p:txBody>
      </p:sp>
    </p:spTree>
    <p:extLst>
      <p:ext uri="{BB962C8B-B14F-4D97-AF65-F5344CB8AC3E}">
        <p14:creationId xmlns:p14="http://schemas.microsoft.com/office/powerpoint/2010/main" val="407360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25D7E-261D-89A0-ADB2-FED17FA18B15}"/>
              </a:ext>
            </a:extLst>
          </p:cNvPr>
          <p:cNvSpPr>
            <a:spLocks noGrp="1"/>
          </p:cNvSpPr>
          <p:nvPr>
            <p:ph type="title"/>
          </p:nvPr>
        </p:nvSpPr>
        <p:spPr/>
        <p:txBody>
          <a:bodyPr/>
          <a:lstStyle/>
          <a:p>
            <a:r>
              <a:rPr lang="en-US" dirty="0"/>
              <a:t>User Experience</a:t>
            </a:r>
          </a:p>
        </p:txBody>
      </p:sp>
      <p:graphicFrame>
        <p:nvGraphicFramePr>
          <p:cNvPr id="4" name="Content Placeholder 3">
            <a:extLst>
              <a:ext uri="{FF2B5EF4-FFF2-40B4-BE49-F238E27FC236}">
                <a16:creationId xmlns:a16="http://schemas.microsoft.com/office/drawing/2014/main" id="{6B220D84-564C-2A5F-F75A-EEFF6EE81E17}"/>
              </a:ext>
            </a:extLst>
          </p:cNvPr>
          <p:cNvGraphicFramePr>
            <a:graphicFrameLocks noGrp="1"/>
          </p:cNvGraphicFramePr>
          <p:nvPr>
            <p:ph idx="1"/>
            <p:extLst>
              <p:ext uri="{D42A27DB-BD31-4B8C-83A1-F6EECF244321}">
                <p14:modId xmlns:p14="http://schemas.microsoft.com/office/powerpoint/2010/main" val="3482910726"/>
              </p:ext>
            </p:extLst>
          </p:nvPr>
        </p:nvGraphicFramePr>
        <p:xfrm>
          <a:off x="1850631" y="2730843"/>
          <a:ext cx="8490738" cy="2621648"/>
        </p:xfrm>
        <a:graphic>
          <a:graphicData uri="http://schemas.openxmlformats.org/drawingml/2006/table">
            <a:tbl>
              <a:tblPr firstRow="1" firstCol="1" bandRow="1">
                <a:tableStyleId>{5C22544A-7EE6-4342-B048-85BDC9FD1C3A}</a:tableStyleId>
              </a:tblPr>
              <a:tblGrid>
                <a:gridCol w="1434246">
                  <a:extLst>
                    <a:ext uri="{9D8B030D-6E8A-4147-A177-3AD203B41FA5}">
                      <a16:colId xmlns:a16="http://schemas.microsoft.com/office/drawing/2014/main" val="3505853774"/>
                    </a:ext>
                  </a:extLst>
                </a:gridCol>
                <a:gridCol w="3040602">
                  <a:extLst>
                    <a:ext uri="{9D8B030D-6E8A-4147-A177-3AD203B41FA5}">
                      <a16:colId xmlns:a16="http://schemas.microsoft.com/office/drawing/2014/main" val="574780605"/>
                    </a:ext>
                  </a:extLst>
                </a:gridCol>
                <a:gridCol w="4015890">
                  <a:extLst>
                    <a:ext uri="{9D8B030D-6E8A-4147-A177-3AD203B41FA5}">
                      <a16:colId xmlns:a16="http://schemas.microsoft.com/office/drawing/2014/main" val="3801348364"/>
                    </a:ext>
                  </a:extLst>
                </a:gridCol>
              </a:tblGrid>
              <a:tr h="321640">
                <a:tc>
                  <a:txBody>
                    <a:bodyPr/>
                    <a:lstStyle/>
                    <a:p>
                      <a:pPr marL="0" marR="0">
                        <a:lnSpc>
                          <a:spcPct val="107000"/>
                        </a:lnSpc>
                        <a:spcAft>
                          <a:spcPts val="500"/>
                        </a:spcAft>
                        <a:buNone/>
                      </a:pPr>
                      <a:r>
                        <a:rPr lang="en-US" sz="1050">
                          <a:effectLst/>
                        </a:rPr>
                        <a:t>Mode</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07000"/>
                        </a:lnSpc>
                        <a:spcAft>
                          <a:spcPts val="500"/>
                        </a:spcAft>
                        <a:buNone/>
                      </a:pPr>
                      <a:r>
                        <a:rPr lang="en-US" sz="1050">
                          <a:effectLst/>
                        </a:rPr>
                        <a:t>Typical MVP evidence</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07000"/>
                        </a:lnSpc>
                        <a:spcAft>
                          <a:spcPts val="500"/>
                        </a:spcAft>
                        <a:buNone/>
                      </a:pPr>
                      <a:r>
                        <a:rPr lang="en-US" sz="1050">
                          <a:effectLst/>
                        </a:rPr>
                        <a:t>LLM response policy</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805401786"/>
                  </a:ext>
                </a:extLst>
              </a:tr>
              <a:tr h="655412">
                <a:tc>
                  <a:txBody>
                    <a:bodyPr/>
                    <a:lstStyle/>
                    <a:p>
                      <a:pPr marL="0" marR="0">
                        <a:lnSpc>
                          <a:spcPct val="107000"/>
                        </a:lnSpc>
                        <a:spcAft>
                          <a:spcPts val="500"/>
                        </a:spcAft>
                        <a:buNone/>
                      </a:pPr>
                      <a:r>
                        <a:rPr lang="en-US" sz="1050">
                          <a:effectLst/>
                        </a:rPr>
                        <a:t>NORMAL</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Low repetition score; isolated or genuinely new question</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Answer naturally and proportionately. Do not introduce OCD framing.</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39691501"/>
                  </a:ext>
                </a:extLst>
              </a:tr>
              <a:tr h="655412">
                <a:tc>
                  <a:txBody>
                    <a:bodyPr/>
                    <a:lstStyle/>
                    <a:p>
                      <a:pPr marL="0" marR="0">
                        <a:lnSpc>
                          <a:spcPct val="107000"/>
                        </a:lnSpc>
                        <a:spcAft>
                          <a:spcPts val="500"/>
                        </a:spcAft>
                        <a:buNone/>
                      </a:pPr>
                      <a:r>
                        <a:rPr lang="en-US" sz="1050" dirty="0">
                          <a:effectLst/>
                          <a:latin typeface="Aptos" panose="020B0004020202020204" pitchFamily="34" charset="0"/>
                          <a:ea typeface="MS Mincho" panose="02020609040205080304" pitchFamily="49" charset="-128"/>
                          <a:cs typeface="Times New Roman" panose="02020603050405020304" pitchFamily="18" charset="0"/>
                        </a:rPr>
                        <a:t>Monitoring</a:t>
                      </a:r>
                    </a:p>
                  </a:txBody>
                  <a:tcPr marL="68580" marR="68580" marT="0" marB="0"/>
                </a:tc>
                <a:tc>
                  <a:txBody>
                    <a:bodyPr/>
                    <a:lstStyle/>
                    <a:p>
                      <a:pPr marL="0" marR="0">
                        <a:lnSpc>
                          <a:spcPct val="107000"/>
                        </a:lnSpc>
                        <a:spcAft>
                          <a:spcPts val="500"/>
                        </a:spcAft>
                        <a:buNone/>
                      </a:pPr>
                      <a:r>
                        <a:rPr lang="en-US" sz="1050">
                          <a:effectLst/>
                        </a:rPr>
                        <a:t>Some semantic similarity and/or certainty wording</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dirty="0">
                          <a:solidFill>
                            <a:srgbClr val="000000"/>
                          </a:solidFill>
                          <a:effectLst/>
                          <a:latin typeface="Aptos" panose="020B0004020202020204" pitchFamily="34" charset="0"/>
                          <a:ea typeface="MS Mincho" panose="02020609040205080304" pitchFamily="49" charset="-128"/>
                          <a:cs typeface="Times New Roman" panose="02020603050405020304" pitchFamily="18" charset="0"/>
                        </a:rPr>
                        <a:t>Answer briefly; avoid unnecessary guarantees; collect more evidence.</a:t>
                      </a:r>
                      <a:endParaRPr lang="en-US"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06891104"/>
                  </a:ext>
                </a:extLst>
              </a:tr>
              <a:tr h="989184">
                <a:tc>
                  <a:txBody>
                    <a:bodyPr/>
                    <a:lstStyle/>
                    <a:p>
                      <a:pPr marL="0" marR="0">
                        <a:lnSpc>
                          <a:spcPct val="107000"/>
                        </a:lnSpc>
                        <a:spcAft>
                          <a:spcPts val="500"/>
                        </a:spcAft>
                        <a:buNone/>
                      </a:pPr>
                      <a:r>
                        <a:rPr lang="en-US" sz="1050">
                          <a:effectLst/>
                        </a:rPr>
                        <a:t>REASSURANCE_LOOP</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Multiple semantically similar past concerns plus certainty/repetition signals</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dirty="0">
                          <a:effectLst/>
                        </a:rPr>
                        <a:t>Acknowledge distress, note repetition tentatively, avoid stronger reassurance, and invite a return to the user’s activity/value.</a:t>
                      </a:r>
                      <a:endParaRPr lang="en-US"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31922887"/>
                  </a:ext>
                </a:extLst>
              </a:tr>
            </a:tbl>
          </a:graphicData>
        </a:graphic>
      </p:graphicFrame>
      <p:sp>
        <p:nvSpPr>
          <p:cNvPr id="5" name="TextBox 4">
            <a:extLst>
              <a:ext uri="{FF2B5EF4-FFF2-40B4-BE49-F238E27FC236}">
                <a16:creationId xmlns:a16="http://schemas.microsoft.com/office/drawing/2014/main" id="{1C24745F-AFB2-63C5-56CA-C0664504DF10}"/>
              </a:ext>
            </a:extLst>
          </p:cNvPr>
          <p:cNvSpPr txBox="1"/>
          <p:nvPr/>
        </p:nvSpPr>
        <p:spPr>
          <a:xfrm>
            <a:off x="838200" y="2084512"/>
            <a:ext cx="8907054" cy="646331"/>
          </a:xfrm>
          <a:prstGeom prst="rect">
            <a:avLst/>
          </a:prstGeom>
          <a:noFill/>
        </p:spPr>
        <p:txBody>
          <a:bodyPr wrap="none" rtlCol="0">
            <a:spAutoFit/>
          </a:bodyPr>
          <a:lstStyle/>
          <a:p>
            <a:r>
              <a:rPr lang="en-US" dirty="0"/>
              <a:t>The ai assistant’s response mode corresponds to the detected user’s </a:t>
            </a:r>
            <a:r>
              <a:rPr lang="en-US" dirty="0" err="1"/>
              <a:t>behavioural</a:t>
            </a:r>
            <a:r>
              <a:rPr lang="en-US" dirty="0"/>
              <a:t> state mode:</a:t>
            </a:r>
          </a:p>
          <a:p>
            <a:endParaRPr lang="en-US" dirty="0"/>
          </a:p>
        </p:txBody>
      </p:sp>
    </p:spTree>
    <p:extLst>
      <p:ext uri="{BB962C8B-B14F-4D97-AF65-F5344CB8AC3E}">
        <p14:creationId xmlns:p14="http://schemas.microsoft.com/office/powerpoint/2010/main" val="3525645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4B395-E2FE-32B7-105F-1318973BC5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4D3C4B-E884-DDD1-5E1D-A13AF81CA506}"/>
              </a:ext>
            </a:extLst>
          </p:cNvPr>
          <p:cNvSpPr>
            <a:spLocks noGrp="1"/>
          </p:cNvSpPr>
          <p:nvPr>
            <p:ph idx="1"/>
          </p:nvPr>
        </p:nvSpPr>
        <p:spPr/>
        <p:txBody>
          <a:bodyPr/>
          <a:lstStyle/>
          <a:p>
            <a:pPr marL="0" lvl="0" indent="0">
              <a:buNone/>
            </a:pPr>
            <a:r>
              <a:rPr lang="en-US" dirty="0"/>
              <a:t>6. Both the user message and assistant response are stored in </a:t>
            </a:r>
            <a:r>
              <a:rPr lang="en-US" dirty="0" err="1"/>
              <a:t>SQLite.Only</a:t>
            </a:r>
            <a:r>
              <a:rPr lang="en-US" dirty="0"/>
              <a:t> user messages are inserted into semantic memory to prevent the assistant’s own wording from contaminating repetition detection.</a:t>
            </a:r>
          </a:p>
          <a:p>
            <a:pPr marL="0" lvl="0" indent="0">
              <a:buNone/>
            </a:pPr>
            <a:r>
              <a:rPr lang="en-US" dirty="0"/>
              <a:t>7. When the app process restarts, the in-memory vector store is rebuilt from persisted user messages in SQLite.</a:t>
            </a:r>
          </a:p>
          <a:p>
            <a:endParaRPr lang="en-US" dirty="0"/>
          </a:p>
        </p:txBody>
      </p:sp>
    </p:spTree>
    <p:extLst>
      <p:ext uri="{BB962C8B-B14F-4D97-AF65-F5344CB8AC3E}">
        <p14:creationId xmlns:p14="http://schemas.microsoft.com/office/powerpoint/2010/main" val="1552350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3873D-5A29-9594-E2CE-712A1F6A9BAF}"/>
              </a:ext>
            </a:extLst>
          </p:cNvPr>
          <p:cNvSpPr>
            <a:spLocks noGrp="1"/>
          </p:cNvSpPr>
          <p:nvPr>
            <p:ph type="title"/>
          </p:nvPr>
        </p:nvSpPr>
        <p:spPr/>
        <p:txBody>
          <a:bodyPr/>
          <a:lstStyle/>
          <a:p>
            <a:r>
              <a:rPr lang="en-US" dirty="0"/>
              <a:t>AI &amp; Architecture</a:t>
            </a:r>
          </a:p>
        </p:txBody>
      </p:sp>
      <p:sp>
        <p:nvSpPr>
          <p:cNvPr id="3" name="Content Placeholder 2">
            <a:extLst>
              <a:ext uri="{FF2B5EF4-FFF2-40B4-BE49-F238E27FC236}">
                <a16:creationId xmlns:a16="http://schemas.microsoft.com/office/drawing/2014/main" id="{4EA8245B-D68D-934B-3597-11637A6D2FFE}"/>
              </a:ext>
            </a:extLst>
          </p:cNvPr>
          <p:cNvSpPr>
            <a:spLocks noGrp="1"/>
          </p:cNvSpPr>
          <p:nvPr>
            <p:ph idx="1"/>
          </p:nvPr>
        </p:nvSpPr>
        <p:spPr>
          <a:xfrm>
            <a:off x="838200" y="1498600"/>
            <a:ext cx="10515600" cy="4678363"/>
          </a:xfrm>
        </p:spPr>
        <p:txBody>
          <a:bodyPr/>
          <a:lstStyle/>
          <a:p>
            <a:pPr marL="0" indent="0">
              <a:buNone/>
            </a:pPr>
            <a:r>
              <a:rPr lang="en-US" dirty="0"/>
              <a:t>The components used for the MVP:</a:t>
            </a:r>
          </a:p>
          <a:p>
            <a:pPr marL="0" indent="0">
              <a:buNone/>
            </a:pPr>
            <a:endParaRPr lang="en-US" dirty="0"/>
          </a:p>
        </p:txBody>
      </p:sp>
      <p:graphicFrame>
        <p:nvGraphicFramePr>
          <p:cNvPr id="4" name="Table 3">
            <a:extLst>
              <a:ext uri="{FF2B5EF4-FFF2-40B4-BE49-F238E27FC236}">
                <a16:creationId xmlns:a16="http://schemas.microsoft.com/office/drawing/2014/main" id="{EA8CBF97-158A-6544-5FF0-D4EEA2F3F5C5}"/>
              </a:ext>
            </a:extLst>
          </p:cNvPr>
          <p:cNvGraphicFramePr>
            <a:graphicFrameLocks noGrp="1"/>
          </p:cNvGraphicFramePr>
          <p:nvPr>
            <p:extLst>
              <p:ext uri="{D42A27DB-BD31-4B8C-83A1-F6EECF244321}">
                <p14:modId xmlns:p14="http://schemas.microsoft.com/office/powerpoint/2010/main" val="1771574878"/>
              </p:ext>
            </p:extLst>
          </p:nvPr>
        </p:nvGraphicFramePr>
        <p:xfrm>
          <a:off x="838200" y="2426045"/>
          <a:ext cx="10515600" cy="3738560"/>
        </p:xfrm>
        <a:graphic>
          <a:graphicData uri="http://schemas.openxmlformats.org/drawingml/2006/table">
            <a:tbl>
              <a:tblPr firstRow="1" firstCol="1" bandRow="1">
                <a:tableStyleId>{5C22544A-7EE6-4342-B048-85BDC9FD1C3A}</a:tableStyleId>
              </a:tblPr>
              <a:tblGrid>
                <a:gridCol w="1989438">
                  <a:extLst>
                    <a:ext uri="{9D8B030D-6E8A-4147-A177-3AD203B41FA5}">
                      <a16:colId xmlns:a16="http://schemas.microsoft.com/office/drawing/2014/main" val="1874784650"/>
                    </a:ext>
                  </a:extLst>
                </a:gridCol>
                <a:gridCol w="3836772">
                  <a:extLst>
                    <a:ext uri="{9D8B030D-6E8A-4147-A177-3AD203B41FA5}">
                      <a16:colId xmlns:a16="http://schemas.microsoft.com/office/drawing/2014/main" val="3381795262"/>
                    </a:ext>
                  </a:extLst>
                </a:gridCol>
                <a:gridCol w="4689390">
                  <a:extLst>
                    <a:ext uri="{9D8B030D-6E8A-4147-A177-3AD203B41FA5}">
                      <a16:colId xmlns:a16="http://schemas.microsoft.com/office/drawing/2014/main" val="3852885738"/>
                    </a:ext>
                  </a:extLst>
                </a:gridCol>
              </a:tblGrid>
              <a:tr h="263490">
                <a:tc>
                  <a:txBody>
                    <a:bodyPr/>
                    <a:lstStyle/>
                    <a:p>
                      <a:pPr marL="0" marR="0">
                        <a:lnSpc>
                          <a:spcPct val="107000"/>
                        </a:lnSpc>
                        <a:spcAft>
                          <a:spcPts val="500"/>
                        </a:spcAft>
                        <a:buNone/>
                      </a:pPr>
                      <a:r>
                        <a:rPr lang="en-US" sz="1050" dirty="0">
                          <a:effectLst/>
                          <a:latin typeface="Aptos" panose="020B0004020202020204" pitchFamily="34" charset="0"/>
                          <a:ea typeface="MS Mincho" panose="02020609040205080304" pitchFamily="49" charset="-128"/>
                          <a:cs typeface="Times New Roman" panose="02020603050405020304" pitchFamily="18" charset="0"/>
                        </a:rPr>
                        <a:t>Components</a:t>
                      </a:r>
                    </a:p>
                  </a:txBody>
                  <a:tcPr marL="68580" marR="68580" marT="0" marB="0" anchor="ctr"/>
                </a:tc>
                <a:tc>
                  <a:txBody>
                    <a:bodyPr/>
                    <a:lstStyle/>
                    <a:p>
                      <a:pPr marL="0" marR="0">
                        <a:lnSpc>
                          <a:spcPct val="107000"/>
                        </a:lnSpc>
                        <a:spcAft>
                          <a:spcPts val="500"/>
                        </a:spcAft>
                        <a:buNone/>
                      </a:pPr>
                      <a:r>
                        <a:rPr lang="en-US" sz="1050" dirty="0">
                          <a:effectLst/>
                          <a:latin typeface="Aptos" panose="020B0004020202020204" pitchFamily="34" charset="0"/>
                          <a:ea typeface="MS Mincho" panose="02020609040205080304" pitchFamily="49" charset="-128"/>
                          <a:cs typeface="Times New Roman" panose="02020603050405020304" pitchFamily="18" charset="0"/>
                        </a:rPr>
                        <a:t>Implementation method.</a:t>
                      </a:r>
                    </a:p>
                  </a:txBody>
                  <a:tcPr marL="68580" marR="68580" marT="0" marB="0" anchor="ctr"/>
                </a:tc>
                <a:tc>
                  <a:txBody>
                    <a:bodyPr/>
                    <a:lstStyle/>
                    <a:p>
                      <a:pPr marL="0" marR="0">
                        <a:lnSpc>
                          <a:spcPct val="107000"/>
                        </a:lnSpc>
                        <a:spcAft>
                          <a:spcPts val="500"/>
                        </a:spcAft>
                        <a:buNone/>
                      </a:pPr>
                      <a:r>
                        <a:rPr lang="en-US" sz="1050">
                          <a:effectLst/>
                        </a:rPr>
                        <a:t>Future production direction</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294117468"/>
                  </a:ext>
                </a:extLst>
              </a:tr>
              <a:tr h="263490">
                <a:tc>
                  <a:txBody>
                    <a:bodyPr/>
                    <a:lstStyle/>
                    <a:p>
                      <a:pPr marL="0" marR="0">
                        <a:lnSpc>
                          <a:spcPct val="107000"/>
                        </a:lnSpc>
                        <a:spcAft>
                          <a:spcPts val="500"/>
                        </a:spcAft>
                        <a:buNone/>
                      </a:pPr>
                      <a:r>
                        <a:rPr lang="en-US" sz="1050">
                          <a:effectLst/>
                        </a:rPr>
                        <a:t>UI</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Streamlit chat</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React/mobile client after UX validation</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35482517"/>
                  </a:ext>
                </a:extLst>
              </a:tr>
              <a:tr h="263490">
                <a:tc>
                  <a:txBody>
                    <a:bodyPr/>
                    <a:lstStyle/>
                    <a:p>
                      <a:pPr marL="0" marR="0">
                        <a:lnSpc>
                          <a:spcPct val="107000"/>
                        </a:lnSpc>
                        <a:spcAft>
                          <a:spcPts val="500"/>
                        </a:spcAft>
                        <a:buNone/>
                      </a:pPr>
                      <a:r>
                        <a:rPr lang="en-US" sz="1050">
                          <a:effectLst/>
                        </a:rPr>
                        <a:t>Persistence</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SQLite</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PostgreSQL with encrypted sensitive fields</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02821906"/>
                  </a:ext>
                </a:extLst>
              </a:tr>
              <a:tr h="536920">
                <a:tc>
                  <a:txBody>
                    <a:bodyPr/>
                    <a:lstStyle/>
                    <a:p>
                      <a:pPr marL="0" marR="0">
                        <a:lnSpc>
                          <a:spcPct val="107000"/>
                        </a:lnSpc>
                        <a:spcAft>
                          <a:spcPts val="500"/>
                        </a:spcAft>
                        <a:buNone/>
                      </a:pPr>
                      <a:r>
                        <a:rPr lang="en-US" sz="1050">
                          <a:effectLst/>
                        </a:rPr>
                        <a:t>Semantic memory</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In-memory vectors rebuilt from SQLite</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pgvector/Qdrant/managed vector store if scale requires it</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6391659"/>
                  </a:ext>
                </a:extLst>
              </a:tr>
              <a:tr h="536920">
                <a:tc>
                  <a:txBody>
                    <a:bodyPr/>
                    <a:lstStyle/>
                    <a:p>
                      <a:pPr marL="0" marR="0">
                        <a:lnSpc>
                          <a:spcPct val="107000"/>
                        </a:lnSpc>
                        <a:spcAft>
                          <a:spcPts val="500"/>
                        </a:spcAft>
                        <a:buNone/>
                      </a:pPr>
                      <a:r>
                        <a:rPr lang="en-US" sz="1050">
                          <a:effectLst/>
                        </a:rPr>
                        <a:t>Embeddings</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SentenceTransformers all-MiniLM-L6-v2</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Benchmark multilingual/domain models; version embeddings</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513166540"/>
                  </a:ext>
                </a:extLst>
              </a:tr>
              <a:tr h="536920">
                <a:tc>
                  <a:txBody>
                    <a:bodyPr/>
                    <a:lstStyle/>
                    <a:p>
                      <a:pPr marL="0" marR="0">
                        <a:lnSpc>
                          <a:spcPct val="107000"/>
                        </a:lnSpc>
                        <a:spcAft>
                          <a:spcPts val="500"/>
                        </a:spcAft>
                        <a:buNone/>
                      </a:pPr>
                      <a:r>
                        <a:rPr lang="en-US" sz="1050">
                          <a:effectLst/>
                        </a:rPr>
                        <a:t>LLM</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OpenRouter-hosted configurable model</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Provider adapter; privacy-reviewed hosted or self-hosted model</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05943370"/>
                  </a:ext>
                </a:extLst>
              </a:tr>
              <a:tr h="536920">
                <a:tc>
                  <a:txBody>
                    <a:bodyPr/>
                    <a:lstStyle/>
                    <a:p>
                      <a:pPr marL="0" marR="0">
                        <a:lnSpc>
                          <a:spcPct val="107000"/>
                        </a:lnSpc>
                        <a:spcAft>
                          <a:spcPts val="500"/>
                        </a:spcAft>
                        <a:buNone/>
                      </a:pPr>
                      <a:r>
                        <a:rPr lang="en-US" sz="1050">
                          <a:effectLst/>
                        </a:rPr>
                        <a:t>Policy</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Rules + similarity score -&gt; 3 modes</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Calibrated temporal policy engine with hysteresis and user correction</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641853947"/>
                  </a:ext>
                </a:extLst>
              </a:tr>
              <a:tr h="536920">
                <a:tc>
                  <a:txBody>
                    <a:bodyPr/>
                    <a:lstStyle/>
                    <a:p>
                      <a:pPr marL="0" marR="0">
                        <a:lnSpc>
                          <a:spcPct val="107000"/>
                        </a:lnSpc>
                        <a:spcAft>
                          <a:spcPts val="500"/>
                        </a:spcAft>
                        <a:buNone/>
                      </a:pPr>
                      <a:r>
                        <a:rPr lang="en-US" sz="1050">
                          <a:effectLst/>
                        </a:rPr>
                        <a:t>Safety</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Prompt-level emergency override language</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Independent high-recall safety triage + output guard + locale resources</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57491206"/>
                  </a:ext>
                </a:extLst>
              </a:tr>
              <a:tr h="263490">
                <a:tc>
                  <a:txBody>
                    <a:bodyPr/>
                    <a:lstStyle/>
                    <a:p>
                      <a:pPr marL="0" marR="0">
                        <a:lnSpc>
                          <a:spcPct val="107000"/>
                        </a:lnSpc>
                        <a:spcAft>
                          <a:spcPts val="500"/>
                        </a:spcAft>
                        <a:buNone/>
                      </a:pPr>
                      <a:r>
                        <a:rPr lang="en-US" sz="1050">
                          <a:effectLst/>
                        </a:rPr>
                        <a:t>API</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No separate API layer</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dirty="0" err="1">
                          <a:effectLst/>
                        </a:rPr>
                        <a:t>FastAPI</a:t>
                      </a:r>
                      <a:r>
                        <a:rPr lang="en-US" sz="1050" dirty="0">
                          <a:effectLst/>
                        </a:rPr>
                        <a:t> orchestration service</a:t>
                      </a:r>
                      <a:endParaRPr lang="en-US"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76859390"/>
                  </a:ext>
                </a:extLst>
              </a:tr>
            </a:tbl>
          </a:graphicData>
        </a:graphic>
      </p:graphicFrame>
    </p:spTree>
    <p:extLst>
      <p:ext uri="{BB962C8B-B14F-4D97-AF65-F5344CB8AC3E}">
        <p14:creationId xmlns:p14="http://schemas.microsoft.com/office/powerpoint/2010/main" val="2383136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0328F-2DEB-7369-9E3F-7E22970064FF}"/>
              </a:ext>
            </a:extLst>
          </p:cNvPr>
          <p:cNvSpPr>
            <a:spLocks noGrp="1"/>
          </p:cNvSpPr>
          <p:nvPr>
            <p:ph type="title"/>
          </p:nvPr>
        </p:nvSpPr>
        <p:spPr/>
        <p:txBody>
          <a:bodyPr/>
          <a:lstStyle/>
          <a:p>
            <a:r>
              <a:rPr lang="en-US" dirty="0"/>
              <a:t>Build Process</a:t>
            </a:r>
          </a:p>
        </p:txBody>
      </p:sp>
      <p:graphicFrame>
        <p:nvGraphicFramePr>
          <p:cNvPr id="12" name="Content Placeholder 11">
            <a:extLst>
              <a:ext uri="{FF2B5EF4-FFF2-40B4-BE49-F238E27FC236}">
                <a16:creationId xmlns:a16="http://schemas.microsoft.com/office/drawing/2014/main" id="{44EFEEEB-96DC-1B58-121A-C2BCB3F416D4}"/>
              </a:ext>
            </a:extLst>
          </p:cNvPr>
          <p:cNvGraphicFramePr>
            <a:graphicFrameLocks noGrp="1"/>
          </p:cNvGraphicFramePr>
          <p:nvPr>
            <p:ph idx="1"/>
            <p:extLst>
              <p:ext uri="{D42A27DB-BD31-4B8C-83A1-F6EECF244321}">
                <p14:modId xmlns:p14="http://schemas.microsoft.com/office/powerpoint/2010/main" val="3147793376"/>
              </p:ext>
            </p:extLst>
          </p:nvPr>
        </p:nvGraphicFramePr>
        <p:xfrm>
          <a:off x="1401580" y="2638264"/>
          <a:ext cx="9593706" cy="3650101"/>
        </p:xfrm>
        <a:graphic>
          <a:graphicData uri="http://schemas.openxmlformats.org/drawingml/2006/table">
            <a:tbl>
              <a:tblPr firstRow="1" firstCol="1" bandRow="1">
                <a:tableStyleId>{5C22544A-7EE6-4342-B048-85BDC9FD1C3A}</a:tableStyleId>
              </a:tblPr>
              <a:tblGrid>
                <a:gridCol w="1738457">
                  <a:extLst>
                    <a:ext uri="{9D8B030D-6E8A-4147-A177-3AD203B41FA5}">
                      <a16:colId xmlns:a16="http://schemas.microsoft.com/office/drawing/2014/main" val="3185319701"/>
                    </a:ext>
                  </a:extLst>
                </a:gridCol>
                <a:gridCol w="3412526">
                  <a:extLst>
                    <a:ext uri="{9D8B030D-6E8A-4147-A177-3AD203B41FA5}">
                      <a16:colId xmlns:a16="http://schemas.microsoft.com/office/drawing/2014/main" val="4267071334"/>
                    </a:ext>
                  </a:extLst>
                </a:gridCol>
                <a:gridCol w="4442723">
                  <a:extLst>
                    <a:ext uri="{9D8B030D-6E8A-4147-A177-3AD203B41FA5}">
                      <a16:colId xmlns:a16="http://schemas.microsoft.com/office/drawing/2014/main" val="2924536264"/>
                    </a:ext>
                  </a:extLst>
                </a:gridCol>
              </a:tblGrid>
              <a:tr h="224427">
                <a:tc>
                  <a:txBody>
                    <a:bodyPr/>
                    <a:lstStyle/>
                    <a:p>
                      <a:pPr marL="0" marR="0">
                        <a:lnSpc>
                          <a:spcPct val="107000"/>
                        </a:lnSpc>
                        <a:spcAft>
                          <a:spcPts val="500"/>
                        </a:spcAft>
                        <a:buNone/>
                      </a:pPr>
                      <a:r>
                        <a:rPr lang="en-US" sz="1050">
                          <a:effectLst/>
                        </a:rPr>
                        <a:t>Component</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07000"/>
                        </a:lnSpc>
                        <a:spcAft>
                          <a:spcPts val="500"/>
                        </a:spcAft>
                        <a:buNone/>
                      </a:pPr>
                      <a:r>
                        <a:rPr lang="en-US" sz="1050">
                          <a:effectLst/>
                        </a:rPr>
                        <a:t>MVP implementation</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07000"/>
                        </a:lnSpc>
                        <a:spcAft>
                          <a:spcPts val="500"/>
                        </a:spcAft>
                        <a:buNone/>
                      </a:pPr>
                      <a:r>
                        <a:rPr lang="en-US" sz="1050">
                          <a:effectLst/>
                        </a:rPr>
                        <a:t>Purpose</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269349593"/>
                  </a:ext>
                </a:extLst>
              </a:tr>
              <a:tr h="224427">
                <a:tc>
                  <a:txBody>
                    <a:bodyPr/>
                    <a:lstStyle/>
                    <a:p>
                      <a:pPr marL="0" marR="0">
                        <a:lnSpc>
                          <a:spcPct val="107000"/>
                        </a:lnSpc>
                        <a:spcAft>
                          <a:spcPts val="500"/>
                        </a:spcAft>
                        <a:buNone/>
                      </a:pPr>
                      <a:r>
                        <a:rPr lang="en-US" sz="1050">
                          <a:effectLst/>
                        </a:rPr>
                        <a:t>Frontend</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Streamlit</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Chat UI, session selection, lightweight debug visibility.</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52476011"/>
                  </a:ext>
                </a:extLst>
              </a:tr>
              <a:tr h="457321">
                <a:tc>
                  <a:txBody>
                    <a:bodyPr/>
                    <a:lstStyle/>
                    <a:p>
                      <a:pPr marL="0" marR="0">
                        <a:lnSpc>
                          <a:spcPct val="107000"/>
                        </a:lnSpc>
                        <a:spcAft>
                          <a:spcPts val="500"/>
                        </a:spcAft>
                        <a:buNone/>
                      </a:pPr>
                      <a:r>
                        <a:rPr lang="en-US" sz="1050">
                          <a:effectLst/>
                        </a:rPr>
                        <a:t>Database</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SQLite</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Persistent sessions, messages, timestamps, detector metadata, response modes.</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52073760"/>
                  </a:ext>
                </a:extLst>
              </a:tr>
              <a:tr h="457321">
                <a:tc>
                  <a:txBody>
                    <a:bodyPr/>
                    <a:lstStyle/>
                    <a:p>
                      <a:pPr marL="0" marR="0">
                        <a:lnSpc>
                          <a:spcPct val="107000"/>
                        </a:lnSpc>
                        <a:spcAft>
                          <a:spcPts val="500"/>
                        </a:spcAft>
                        <a:buNone/>
                      </a:pPr>
                      <a:r>
                        <a:rPr lang="en-US" sz="1050">
                          <a:effectLst/>
                        </a:rPr>
                        <a:t>Embedding model</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sentence-transformers/all-MiniLM-L6-v2</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Convert user messages into normalized semantic vectors.</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65311029"/>
                  </a:ext>
                </a:extLst>
              </a:tr>
              <a:tr h="457321">
                <a:tc>
                  <a:txBody>
                    <a:bodyPr/>
                    <a:lstStyle/>
                    <a:p>
                      <a:pPr marL="0" marR="0">
                        <a:lnSpc>
                          <a:spcPct val="107000"/>
                        </a:lnSpc>
                        <a:spcAft>
                          <a:spcPts val="500"/>
                        </a:spcAft>
                        <a:buNone/>
                      </a:pPr>
                      <a:r>
                        <a:rPr lang="en-US" sz="1050">
                          <a:effectLst/>
                        </a:rPr>
                        <a:t>Vector store</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Python in-memory list of vectors</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Keep the MVP dependency-light; rebuild from SQLite on startup.</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2673062"/>
                  </a:ext>
                </a:extLst>
              </a:tr>
              <a:tr h="457321">
                <a:tc>
                  <a:txBody>
                    <a:bodyPr/>
                    <a:lstStyle/>
                    <a:p>
                      <a:pPr marL="0" marR="0">
                        <a:lnSpc>
                          <a:spcPct val="107000"/>
                        </a:lnSpc>
                        <a:spcAft>
                          <a:spcPts val="500"/>
                        </a:spcAft>
                        <a:buNone/>
                      </a:pPr>
                      <a:r>
                        <a:rPr lang="en-US" sz="1050">
                          <a:effectLst/>
                        </a:rPr>
                        <a:t>Similarity</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NumPy dot product on normalized vectors</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Equivalent to cosine similarity for normalized embeddings.</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75328249"/>
                  </a:ext>
                </a:extLst>
              </a:tr>
              <a:tr h="457321">
                <a:tc>
                  <a:txBody>
                    <a:bodyPr/>
                    <a:lstStyle/>
                    <a:p>
                      <a:pPr marL="0" marR="0">
                        <a:lnSpc>
                          <a:spcPct val="107000"/>
                        </a:lnSpc>
                        <a:spcAft>
                          <a:spcPts val="500"/>
                        </a:spcAft>
                        <a:buNone/>
                      </a:pPr>
                      <a:r>
                        <a:rPr lang="en-US" sz="1050">
                          <a:effectLst/>
                        </a:rPr>
                        <a:t>Rule detector</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Python regex + heuristic scoring</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dirty="0">
                          <a:effectLst/>
                        </a:rPr>
                        <a:t>Detect certainty wording and combine it with semantic repetition.</a:t>
                      </a:r>
                      <a:endParaRPr lang="en-US"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730456228"/>
                  </a:ext>
                </a:extLst>
              </a:tr>
              <a:tr h="457321">
                <a:tc>
                  <a:txBody>
                    <a:bodyPr/>
                    <a:lstStyle/>
                    <a:p>
                      <a:pPr marL="0" marR="0">
                        <a:lnSpc>
                          <a:spcPct val="107000"/>
                        </a:lnSpc>
                        <a:spcAft>
                          <a:spcPts val="500"/>
                        </a:spcAft>
                        <a:buNone/>
                      </a:pPr>
                      <a:r>
                        <a:rPr lang="en-US" sz="1050">
                          <a:effectLst/>
                        </a:rPr>
                        <a:t>LLM adapter</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OpenAI-compatible OpenRouter client</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Generate natural responses while keeping the model configurable.</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63901322"/>
                  </a:ext>
                </a:extLst>
              </a:tr>
              <a:tr h="457321">
                <a:tc>
                  <a:txBody>
                    <a:bodyPr/>
                    <a:lstStyle/>
                    <a:p>
                      <a:pPr marL="0" marR="0">
                        <a:lnSpc>
                          <a:spcPct val="107000"/>
                        </a:lnSpc>
                        <a:spcAft>
                          <a:spcPts val="500"/>
                        </a:spcAft>
                        <a:buNone/>
                      </a:pPr>
                      <a:r>
                        <a:rPr lang="en-US" sz="1050">
                          <a:effectLst/>
                        </a:rPr>
                        <a:t>Prompt policy</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a:effectLst/>
                        </a:rPr>
                        <a:t>Single system prompt + injected RESPONSE_MODE</a:t>
                      </a:r>
                      <a:endParaRPr lang="en-US"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07000"/>
                        </a:lnSpc>
                        <a:spcAft>
                          <a:spcPts val="500"/>
                        </a:spcAft>
                        <a:buNone/>
                      </a:pPr>
                      <a:r>
                        <a:rPr lang="en-US" sz="1050" dirty="0">
                          <a:effectLst/>
                        </a:rPr>
                        <a:t>Keep behavior consistent and separate generation from detection.</a:t>
                      </a:r>
                      <a:endParaRPr lang="en-US"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06700139"/>
                  </a:ext>
                </a:extLst>
              </a:tr>
            </a:tbl>
          </a:graphicData>
        </a:graphic>
      </p:graphicFrame>
      <p:sp>
        <p:nvSpPr>
          <p:cNvPr id="14" name="TextBox 13">
            <a:extLst>
              <a:ext uri="{FF2B5EF4-FFF2-40B4-BE49-F238E27FC236}">
                <a16:creationId xmlns:a16="http://schemas.microsoft.com/office/drawing/2014/main" id="{C88003F3-2E05-885A-386A-EAA10961EC50}"/>
              </a:ext>
            </a:extLst>
          </p:cNvPr>
          <p:cNvSpPr txBox="1"/>
          <p:nvPr/>
        </p:nvSpPr>
        <p:spPr>
          <a:xfrm>
            <a:off x="1401580" y="1690688"/>
            <a:ext cx="9593706" cy="646331"/>
          </a:xfrm>
          <a:prstGeom prst="rect">
            <a:avLst/>
          </a:prstGeom>
          <a:noFill/>
        </p:spPr>
        <p:txBody>
          <a:bodyPr wrap="square">
            <a:spAutoFit/>
          </a:bodyPr>
          <a:lstStyle/>
          <a:p>
            <a:pPr marL="0" marR="0" algn="ctr">
              <a:lnSpc>
                <a:spcPct val="100000"/>
              </a:lnSpc>
              <a:spcAft>
                <a:spcPts val="500"/>
              </a:spcAft>
              <a:buNone/>
            </a:pPr>
            <a:r>
              <a:rPr lang="en-US" sz="1800" b="1" dirty="0" err="1">
                <a:solidFill>
                  <a:schemeClr val="tx1"/>
                </a:solidFill>
                <a:effectLst/>
                <a:latin typeface="+mn-lt"/>
                <a:ea typeface="MS Mincho" panose="02020609040205080304" pitchFamily="49" charset="-128"/>
                <a:cs typeface="Times New Roman" panose="02020603050405020304" pitchFamily="18" charset="0"/>
              </a:rPr>
              <a:t>Streamlit</a:t>
            </a:r>
            <a:r>
              <a:rPr lang="en-US" sz="1800" b="1" dirty="0">
                <a:solidFill>
                  <a:schemeClr val="tx1"/>
                </a:solidFill>
                <a:effectLst/>
                <a:latin typeface="+mn-lt"/>
                <a:ea typeface="MS Mincho" panose="02020609040205080304" pitchFamily="49" charset="-128"/>
                <a:cs typeface="Times New Roman" panose="02020603050405020304" pitchFamily="18" charset="0"/>
              </a:rPr>
              <a:t> UI → SQLite history → </a:t>
            </a:r>
            <a:r>
              <a:rPr lang="en-US" sz="1800" b="1" dirty="0" err="1">
                <a:solidFill>
                  <a:schemeClr val="tx1"/>
                </a:solidFill>
                <a:effectLst/>
                <a:latin typeface="+mn-lt"/>
                <a:ea typeface="MS Mincho" panose="02020609040205080304" pitchFamily="49" charset="-128"/>
                <a:cs typeface="Times New Roman" panose="02020603050405020304" pitchFamily="18" charset="0"/>
              </a:rPr>
              <a:t>SentenceTransformer</a:t>
            </a:r>
            <a:r>
              <a:rPr lang="en-US" sz="1800" b="1" dirty="0">
                <a:solidFill>
                  <a:schemeClr val="tx1"/>
                </a:solidFill>
                <a:effectLst/>
                <a:latin typeface="+mn-lt"/>
                <a:ea typeface="MS Mincho" panose="02020609040205080304" pitchFamily="49" charset="-128"/>
                <a:cs typeface="Times New Roman" panose="02020603050405020304" pitchFamily="18" charset="0"/>
              </a:rPr>
              <a:t> embedding → in-memory cosine search → deterministic detector → adaptive system prompt → </a:t>
            </a:r>
            <a:r>
              <a:rPr lang="en-US" sz="1800" b="1" dirty="0" err="1">
                <a:solidFill>
                  <a:schemeClr val="tx1"/>
                </a:solidFill>
                <a:effectLst/>
                <a:latin typeface="+mn-lt"/>
                <a:ea typeface="MS Mincho" panose="02020609040205080304" pitchFamily="49" charset="-128"/>
                <a:cs typeface="Times New Roman" panose="02020603050405020304" pitchFamily="18" charset="0"/>
              </a:rPr>
              <a:t>OpenRouter</a:t>
            </a:r>
            <a:r>
              <a:rPr lang="en-US" sz="1800" b="1" dirty="0">
                <a:solidFill>
                  <a:schemeClr val="tx1"/>
                </a:solidFill>
                <a:effectLst/>
                <a:latin typeface="+mn-lt"/>
                <a:ea typeface="MS Mincho" panose="02020609040205080304" pitchFamily="49" charset="-128"/>
                <a:cs typeface="Times New Roman" panose="02020603050405020304" pitchFamily="18" charset="0"/>
              </a:rPr>
              <a:t> LLM → SQLite persistence</a:t>
            </a:r>
            <a:endParaRPr lang="en-US" sz="1600" dirty="0">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546674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65D48-C5BC-1133-C4AE-0DF75F848BB3}"/>
              </a:ext>
            </a:extLst>
          </p:cNvPr>
          <p:cNvSpPr>
            <a:spLocks noGrp="1"/>
          </p:cNvSpPr>
          <p:nvPr>
            <p:ph type="title"/>
          </p:nvPr>
        </p:nvSpPr>
        <p:spPr/>
        <p:txBody>
          <a:bodyPr/>
          <a:lstStyle/>
          <a:p>
            <a:r>
              <a:rPr lang="en-US" dirty="0"/>
              <a:t>Collaboration</a:t>
            </a:r>
          </a:p>
        </p:txBody>
      </p:sp>
      <p:sp>
        <p:nvSpPr>
          <p:cNvPr id="3" name="Content Placeholder 2">
            <a:extLst>
              <a:ext uri="{FF2B5EF4-FFF2-40B4-BE49-F238E27FC236}">
                <a16:creationId xmlns:a16="http://schemas.microsoft.com/office/drawing/2014/main" id="{302BAE65-0B0F-4E21-1A19-9836020663D4}"/>
              </a:ext>
            </a:extLst>
          </p:cNvPr>
          <p:cNvSpPr>
            <a:spLocks noGrp="1"/>
          </p:cNvSpPr>
          <p:nvPr>
            <p:ph idx="1"/>
          </p:nvPr>
        </p:nvSpPr>
        <p:spPr/>
        <p:txBody>
          <a:bodyPr>
            <a:normAutofit fontScale="85000" lnSpcReduction="20000"/>
          </a:bodyPr>
          <a:lstStyle/>
          <a:p>
            <a:r>
              <a:rPr lang="en-US" dirty="0"/>
              <a:t>Assume you have a Product Manager, Designer and another Developer. How would you divide the work, collaborate and keep delivery moving?</a:t>
            </a:r>
          </a:p>
          <a:p>
            <a:pPr lvl="1"/>
            <a:r>
              <a:rPr lang="en-US" dirty="0"/>
              <a:t>Product Manager:</a:t>
            </a:r>
          </a:p>
          <a:p>
            <a:pPr lvl="2"/>
            <a:r>
              <a:rPr lang="en-US" dirty="0"/>
              <a:t>I will assign product manager to talk to existing users regarding their mental health struggle and ask for insight on what they can use to improve their AI application.</a:t>
            </a:r>
          </a:p>
          <a:p>
            <a:pPr lvl="3"/>
            <a:r>
              <a:rPr lang="en-US" dirty="0"/>
              <a:t>when they use the app, what they hoped it would help with, and where a response felt helpful, confusing, or unhelpful. Keep questions focused on their experience with the product; they should not have to describe distressing thoughts in detail.</a:t>
            </a:r>
          </a:p>
          <a:p>
            <a:pPr lvl="2"/>
            <a:r>
              <a:rPr lang="en-US" dirty="0"/>
              <a:t>Evaluate existing feature, ask existing user’s what part of the product feature is helpful to the user</a:t>
            </a:r>
          </a:p>
          <a:p>
            <a:pPr lvl="3"/>
            <a:r>
              <a:rPr lang="en-US" dirty="0"/>
              <a:t>Find out whether users understand the </a:t>
            </a:r>
            <a:r>
              <a:rPr lang="en-US" i="1" dirty="0"/>
              <a:t>Normal, Monitor, Possible Loop,</a:t>
            </a:r>
            <a:r>
              <a:rPr lang="en-US" dirty="0"/>
              <a:t> and </a:t>
            </a:r>
            <a:r>
              <a:rPr lang="en-US" i="1" dirty="0"/>
              <a:t>Strong Loop</a:t>
            </a:r>
            <a:r>
              <a:rPr lang="en-US" dirty="0"/>
              <a:t> states, and whether a loop notice helps them move on or makes them feel judged. Ask for examples of where the app interrupted an ordinary question.</a:t>
            </a:r>
          </a:p>
          <a:p>
            <a:pPr lvl="2"/>
            <a:r>
              <a:rPr lang="en-US" dirty="0"/>
              <a:t>I will ask product manager to do research on the mental health issue and collaborate with a licensed psychiatrist, let them know the product we are developing and ask them to test our product and ask for ways we can help our product improve.</a:t>
            </a:r>
          </a:p>
          <a:p>
            <a:pPr lvl="3"/>
            <a:r>
              <a:rPr lang="en-US" dirty="0"/>
              <a:t>to review the product’s wording, response examples, false alarms, and safety handling. </a:t>
            </a:r>
          </a:p>
          <a:p>
            <a:pPr lvl="3"/>
            <a:r>
              <a:rPr lang="en-US" dirty="0"/>
              <a:t>Invite them to test fictional scenarios before asking real users to test sensitive cases. </a:t>
            </a:r>
          </a:p>
          <a:p>
            <a:pPr lvl="2"/>
            <a:r>
              <a:rPr lang="en-US" dirty="0"/>
              <a:t>Use the research for the product designer to turn into a feasible feature, give developers a ranked list of problems, evidence from interviews and tests, a proposed change, and a way to check whether it helped.</a:t>
            </a:r>
          </a:p>
        </p:txBody>
      </p:sp>
    </p:spTree>
    <p:extLst>
      <p:ext uri="{BB962C8B-B14F-4D97-AF65-F5344CB8AC3E}">
        <p14:creationId xmlns:p14="http://schemas.microsoft.com/office/powerpoint/2010/main" val="1675857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A8FB0-1063-B520-A486-CD0C267F2325}"/>
              </a:ext>
            </a:extLst>
          </p:cNvPr>
          <p:cNvSpPr>
            <a:spLocks noGrp="1"/>
          </p:cNvSpPr>
          <p:nvPr>
            <p:ph type="title"/>
          </p:nvPr>
        </p:nvSpPr>
        <p:spPr/>
        <p:txBody>
          <a:bodyPr/>
          <a:lstStyle/>
          <a:p>
            <a:r>
              <a:rPr lang="en-US" dirty="0"/>
              <a:t>Collaboration</a:t>
            </a:r>
          </a:p>
        </p:txBody>
      </p:sp>
      <p:sp>
        <p:nvSpPr>
          <p:cNvPr id="3" name="Content Placeholder 2">
            <a:extLst>
              <a:ext uri="{FF2B5EF4-FFF2-40B4-BE49-F238E27FC236}">
                <a16:creationId xmlns:a16="http://schemas.microsoft.com/office/drawing/2014/main" id="{8E87EC3B-592A-EEBD-4213-B99228406A72}"/>
              </a:ext>
            </a:extLst>
          </p:cNvPr>
          <p:cNvSpPr>
            <a:spLocks noGrp="1"/>
          </p:cNvSpPr>
          <p:nvPr>
            <p:ph idx="1"/>
          </p:nvPr>
        </p:nvSpPr>
        <p:spPr/>
        <p:txBody>
          <a:bodyPr>
            <a:normAutofit/>
          </a:bodyPr>
          <a:lstStyle/>
          <a:p>
            <a:pPr lvl="1"/>
            <a:r>
              <a:rPr lang="en-US" dirty="0"/>
              <a:t>Product Designer: </a:t>
            </a:r>
          </a:p>
          <a:p>
            <a:pPr lvl="2"/>
            <a:r>
              <a:rPr lang="en-US" dirty="0"/>
              <a:t>Redesigns the chat flow, wireframes and prototype showing how users start a chat, read an answer, revisit history, and recover when LLM fails or takes time.</a:t>
            </a:r>
          </a:p>
          <a:p>
            <a:pPr lvl="2"/>
            <a:r>
              <a:rPr lang="en-US" dirty="0"/>
              <a:t>Improve the loop notice: Several wording and layout options for </a:t>
            </a:r>
            <a:r>
              <a:rPr lang="en-US" i="1" dirty="0"/>
              <a:t>Monitor, Possible Loop,</a:t>
            </a:r>
            <a:r>
              <a:rPr lang="en-US" dirty="0"/>
              <a:t> and </a:t>
            </a:r>
            <a:r>
              <a:rPr lang="en-US" i="1" dirty="0"/>
              <a:t>Strong Loop</a:t>
            </a:r>
            <a:r>
              <a:rPr lang="en-US" dirty="0"/>
              <a:t>. The notice should explain the app’s observation without implying a diagnosis or shaming the user. Research more on how to respond to user properly based on its detected loop.</a:t>
            </a:r>
          </a:p>
          <a:p>
            <a:pPr lvl="2"/>
            <a:r>
              <a:rPr lang="en-US" dirty="0"/>
              <a:t>Design user controls: Update the UI to make it more understandable to the user</a:t>
            </a:r>
          </a:p>
          <a:p>
            <a:pPr lvl="2"/>
            <a:r>
              <a:rPr lang="en-US" dirty="0"/>
              <a:t>Designer should work together with the product manager and the clinicians in regards to the wording.</a:t>
            </a:r>
          </a:p>
          <a:p>
            <a:pPr lvl="3"/>
            <a:r>
              <a:rPr lang="en-US" dirty="0"/>
              <a:t>How to use the AI to redirect the user back to mindfulness</a:t>
            </a:r>
          </a:p>
          <a:p>
            <a:pPr lvl="3"/>
            <a:r>
              <a:rPr lang="en-US" dirty="0"/>
              <a:t>To not try to fight the thought and just accept the thought, </a:t>
            </a:r>
          </a:p>
          <a:p>
            <a:pPr lvl="3"/>
            <a:r>
              <a:rPr lang="en-US" dirty="0"/>
              <a:t>How to make the user understand that you and your thoughts are disassociated, and not the same? If its not the same with your value, its alright.</a:t>
            </a:r>
          </a:p>
          <a:p>
            <a:pPr lvl="2"/>
            <a:endParaRPr lang="en-US" dirty="0"/>
          </a:p>
          <a:p>
            <a:endParaRPr lang="en-US" dirty="0"/>
          </a:p>
        </p:txBody>
      </p:sp>
    </p:spTree>
    <p:extLst>
      <p:ext uri="{BB962C8B-B14F-4D97-AF65-F5344CB8AC3E}">
        <p14:creationId xmlns:p14="http://schemas.microsoft.com/office/powerpoint/2010/main" val="3840450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F0B49-8E50-5CCF-26C6-5742AE038A45}"/>
              </a:ext>
            </a:extLst>
          </p:cNvPr>
          <p:cNvSpPr>
            <a:spLocks noGrp="1"/>
          </p:cNvSpPr>
          <p:nvPr>
            <p:ph type="title"/>
          </p:nvPr>
        </p:nvSpPr>
        <p:spPr/>
        <p:txBody>
          <a:bodyPr/>
          <a:lstStyle/>
          <a:p>
            <a:r>
              <a:rPr lang="en-US" dirty="0"/>
              <a:t>Collaboration</a:t>
            </a:r>
          </a:p>
        </p:txBody>
      </p:sp>
      <p:sp>
        <p:nvSpPr>
          <p:cNvPr id="3" name="Content Placeholder 2">
            <a:extLst>
              <a:ext uri="{FF2B5EF4-FFF2-40B4-BE49-F238E27FC236}">
                <a16:creationId xmlns:a16="http://schemas.microsoft.com/office/drawing/2014/main" id="{E037EC35-7D57-4CF6-D794-00BF8AF6AFAC}"/>
              </a:ext>
            </a:extLst>
          </p:cNvPr>
          <p:cNvSpPr>
            <a:spLocks noGrp="1"/>
          </p:cNvSpPr>
          <p:nvPr>
            <p:ph idx="1"/>
          </p:nvPr>
        </p:nvSpPr>
        <p:spPr/>
        <p:txBody>
          <a:bodyPr/>
          <a:lstStyle/>
          <a:p>
            <a:pPr lvl="1"/>
            <a:r>
              <a:rPr lang="en-US" dirty="0"/>
              <a:t>Developer:</a:t>
            </a:r>
          </a:p>
          <a:p>
            <a:pPr lvl="2"/>
            <a:r>
              <a:rPr lang="en-US" dirty="0"/>
              <a:t>The developer will take insight developed by product managers and system design from solution architect</a:t>
            </a:r>
          </a:p>
          <a:p>
            <a:pPr lvl="2"/>
            <a:r>
              <a:rPr lang="en-US" dirty="0"/>
              <a:t>In the future, the developer will have to work with PostgreSQL database to store the user accounts, conversation history, access control and backups</a:t>
            </a:r>
          </a:p>
          <a:p>
            <a:pPr lvl="2"/>
            <a:r>
              <a:rPr lang="en-US" dirty="0"/>
              <a:t>The developer needs to implement a larger vector DB for the application. </a:t>
            </a:r>
          </a:p>
          <a:p>
            <a:pPr lvl="2"/>
            <a:r>
              <a:rPr lang="en-US" dirty="0"/>
              <a:t>A </a:t>
            </a:r>
            <a:r>
              <a:rPr lang="en-US" dirty="0" err="1"/>
              <a:t>FastAPI</a:t>
            </a:r>
            <a:r>
              <a:rPr lang="en-US" dirty="0"/>
              <a:t> integration service for the application to the PostgreSQL database.</a:t>
            </a:r>
          </a:p>
          <a:p>
            <a:pPr lvl="3"/>
            <a:r>
              <a:rPr lang="en-US" dirty="0"/>
              <a:t>Enable the same logic operation to be used across web apps, mobile apps or other clients</a:t>
            </a:r>
          </a:p>
          <a:p>
            <a:pPr lvl="3"/>
            <a:r>
              <a:rPr lang="en-US" dirty="0"/>
              <a:t>User accounts and saved conversation flows through a consistent </a:t>
            </a:r>
            <a:r>
              <a:rPr lang="en-US" dirty="0" err="1"/>
              <a:t>api</a:t>
            </a:r>
            <a:r>
              <a:rPr lang="en-US"/>
              <a:t>.</a:t>
            </a:r>
            <a:endParaRPr lang="en-US" dirty="0"/>
          </a:p>
          <a:p>
            <a:pPr lvl="2"/>
            <a:r>
              <a:rPr lang="en-US" dirty="0"/>
              <a:t>The developer needs to use a server that can match the workload demand.</a:t>
            </a:r>
          </a:p>
          <a:p>
            <a:pPr lvl="3"/>
            <a:r>
              <a:rPr lang="en-US" dirty="0"/>
              <a:t>Determine effective ways to host this application. Whether cloud deployment, the hosting architecture, in a container, etc.</a:t>
            </a:r>
          </a:p>
          <a:p>
            <a:pPr lvl="2"/>
            <a:endParaRPr lang="en-US" dirty="0"/>
          </a:p>
          <a:p>
            <a:endParaRPr lang="en-US" dirty="0"/>
          </a:p>
        </p:txBody>
      </p:sp>
    </p:spTree>
    <p:extLst>
      <p:ext uri="{BB962C8B-B14F-4D97-AF65-F5344CB8AC3E}">
        <p14:creationId xmlns:p14="http://schemas.microsoft.com/office/powerpoint/2010/main" val="3991861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BE81E-1F82-A8D9-D480-B0EEE3AF1A8B}"/>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48D3ABAE-21E8-1BA8-4A3B-3050BF2BF5CD}"/>
              </a:ext>
            </a:extLst>
          </p:cNvPr>
          <p:cNvSpPr>
            <a:spLocks noGrp="1"/>
          </p:cNvSpPr>
          <p:nvPr>
            <p:ph idx="1"/>
          </p:nvPr>
        </p:nvSpPr>
        <p:spPr/>
        <p:txBody>
          <a:bodyPr>
            <a:normAutofit fontScale="77500" lnSpcReduction="20000"/>
          </a:bodyPr>
          <a:lstStyle/>
          <a:p>
            <a:r>
              <a:rPr lang="en-US" dirty="0"/>
              <a:t>1. National Institute of Mental Health. Obsessive Compulsive Disorder. Reviewed December 2024. </a:t>
            </a:r>
            <a:r>
              <a:rPr lang="en-US" dirty="0">
                <a:hlinkClick r:id="rId2"/>
              </a:rPr>
              <a:t>Source</a:t>
            </a:r>
            <a:endParaRPr lang="en-US" dirty="0"/>
          </a:p>
          <a:p>
            <a:r>
              <a:rPr lang="en-US" dirty="0"/>
              <a:t>2. International OCD Foundation. Research and evidence for CBT and exposure and response prevention. </a:t>
            </a:r>
            <a:r>
              <a:rPr lang="en-US" dirty="0">
                <a:hlinkClick r:id="rId3"/>
              </a:rPr>
              <a:t>Source</a:t>
            </a:r>
            <a:endParaRPr lang="en-US" dirty="0"/>
          </a:p>
          <a:p>
            <a:r>
              <a:rPr lang="en-US" dirty="0"/>
              <a:t>3. Institute of Mental Health, Castle Peak Hospital. Obsessive Compulsive Disorder. Includes reassurance seeking, contextual interpretation, and CBT with ERP. </a:t>
            </a:r>
            <a:r>
              <a:rPr lang="en-US" dirty="0">
                <a:hlinkClick r:id="rId4"/>
              </a:rPr>
              <a:t>Source</a:t>
            </a:r>
            <a:endParaRPr lang="en-US" dirty="0"/>
          </a:p>
          <a:p>
            <a:r>
              <a:rPr lang="en-US" dirty="0"/>
              <a:t>4. Guo Z, Lai A, Thygesen JH, et al. Large Language Model for Mental Health A Systematic Review. 2024. </a:t>
            </a:r>
            <a:r>
              <a:rPr lang="en-US" dirty="0">
                <a:hlinkClick r:id="rId5"/>
              </a:rPr>
              <a:t>Source</a:t>
            </a:r>
            <a:endParaRPr lang="en-US" dirty="0"/>
          </a:p>
          <a:p>
            <a:r>
              <a:rPr lang="en-US" dirty="0"/>
              <a:t>5. Gong J, Wen X, Tao F, et al. Evaluating Text based Conversational Agents for Mental Health A Systematic Review of Metrics Methods and Usage Contexts. 2026. </a:t>
            </a:r>
            <a:r>
              <a:rPr lang="en-US" dirty="0">
                <a:hlinkClick r:id="rId6"/>
              </a:rPr>
              <a:t>Source</a:t>
            </a:r>
            <a:endParaRPr lang="en-US" dirty="0"/>
          </a:p>
          <a:p>
            <a:r>
              <a:rPr lang="en-US" dirty="0"/>
              <a:t>6. World Health Organization. Ethics and governance of artificial intelligence for health. 2021. </a:t>
            </a:r>
            <a:r>
              <a:rPr lang="en-US" dirty="0">
                <a:hlinkClick r:id="rId7"/>
              </a:rPr>
              <a:t>Source</a:t>
            </a:r>
            <a:endParaRPr lang="en-US" dirty="0"/>
          </a:p>
          <a:p>
            <a:r>
              <a:rPr lang="en-US" dirty="0"/>
              <a:t>7. National Institute of Standards and Technology. Artificial Intelligence Risk Management Framework and Generative AI Profile. </a:t>
            </a:r>
            <a:r>
              <a:rPr lang="en-US" dirty="0">
                <a:hlinkClick r:id="rId8"/>
              </a:rPr>
              <a:t>Source</a:t>
            </a:r>
            <a:endParaRPr lang="en-US" dirty="0"/>
          </a:p>
          <a:p>
            <a:endParaRPr lang="en-US" dirty="0"/>
          </a:p>
        </p:txBody>
      </p:sp>
    </p:spTree>
    <p:extLst>
      <p:ext uri="{BB962C8B-B14F-4D97-AF65-F5344CB8AC3E}">
        <p14:creationId xmlns:p14="http://schemas.microsoft.com/office/powerpoint/2010/main" val="3376228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619</TotalTime>
  <Words>2466</Words>
  <Application>Microsoft Office PowerPoint</Application>
  <PresentationFormat>Widescreen</PresentationFormat>
  <Paragraphs>173</Paragraphs>
  <Slides>20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Arial</vt:lpstr>
      <vt:lpstr>Bitstream Charter</vt:lpstr>
      <vt:lpstr>Calibri</vt:lpstr>
      <vt:lpstr>Calibri Light</vt:lpstr>
      <vt:lpstr>Office Theme</vt:lpstr>
      <vt:lpstr>ThoughtWave: an OCD &amp; Intrusive Thought AI assistant</vt:lpstr>
      <vt:lpstr>Project Description</vt:lpstr>
      <vt:lpstr>Proposed MVP</vt:lpstr>
      <vt:lpstr>PowerPoint Presentation</vt:lpstr>
      <vt:lpstr>Problem Statement</vt:lpstr>
      <vt:lpstr>Research</vt:lpstr>
      <vt:lpstr>Approach</vt:lpstr>
      <vt:lpstr>Solutions</vt:lpstr>
      <vt:lpstr>PowerPoint Presentation</vt:lpstr>
      <vt:lpstr>PowerPoint Presentation</vt:lpstr>
      <vt:lpstr>Solutions: ThoughtWave Product Feature</vt:lpstr>
      <vt:lpstr>User Experience</vt:lpstr>
      <vt:lpstr>User Experience</vt:lpstr>
      <vt:lpstr>PowerPoint Presentation</vt:lpstr>
      <vt:lpstr>AI &amp; Architecture</vt:lpstr>
      <vt:lpstr>Build Process</vt:lpstr>
      <vt:lpstr>Collaboration</vt:lpstr>
      <vt:lpstr>Collaboration</vt:lpstr>
      <vt:lpstr>Collaboration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Vincent</dc:creator>
  <cp:lastModifiedBy>Vincent Vincent</cp:lastModifiedBy>
  <cp:revision>16</cp:revision>
  <dcterms:created xsi:type="dcterms:W3CDTF">2026-09-22T10:44:53Z</dcterms:created>
  <dcterms:modified xsi:type="dcterms:W3CDTF">2026-09-23T16:50:06Z</dcterms:modified>
</cp:coreProperties>
</file>